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3"/>
  </p:notesMasterIdLst>
  <p:sldIdLst>
    <p:sldId id="257" r:id="rId2"/>
    <p:sldId id="284" r:id="rId3"/>
    <p:sldId id="260" r:id="rId4"/>
    <p:sldId id="282" r:id="rId5"/>
    <p:sldId id="281" r:id="rId6"/>
    <p:sldId id="283" r:id="rId7"/>
    <p:sldId id="275" r:id="rId8"/>
    <p:sldId id="267" r:id="rId9"/>
    <p:sldId id="265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304" r:id="rId23"/>
    <p:sldId id="297" r:id="rId24"/>
    <p:sldId id="298" r:id="rId25"/>
    <p:sldId id="299" r:id="rId26"/>
    <p:sldId id="305" r:id="rId27"/>
    <p:sldId id="300" r:id="rId28"/>
    <p:sldId id="301" r:id="rId29"/>
    <p:sldId id="302" r:id="rId30"/>
    <p:sldId id="303" r:id="rId31"/>
    <p:sldId id="279" r:id="rId32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7DC"/>
    <a:srgbClr val="F8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11" autoAdjust="0"/>
    <p:restoredTop sz="94660"/>
  </p:normalViewPr>
  <p:slideViewPr>
    <p:cSldViewPr snapToGrid="0" showGuides="1">
      <p:cViewPr varScale="1">
        <p:scale>
          <a:sx n="226" d="100"/>
          <a:sy n="226" d="100"/>
        </p:scale>
        <p:origin x="267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33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4E112B-532E-694A-9D7E-2C427936D89F}" type="doc">
      <dgm:prSet loTypeId="urn:microsoft.com/office/officeart/2024/layout/NumberedLinearArrow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41A3AB66-3649-9247-9B34-920B9D25E45F}">
      <dgm:prSet phldrT="[Text]"/>
      <dgm:spPr/>
      <dgm:t>
        <a:bodyPr/>
        <a:lstStyle/>
        <a:p>
          <a:r>
            <a:rPr lang="en-GB"/>
            <a:t>LUCJ Ansatz</a:t>
          </a:r>
        </a:p>
      </dgm:t>
    </dgm:pt>
    <dgm:pt modelId="{282DE31C-866B-FC49-9077-84E08DC99EB3}" type="parTrans" cxnId="{78664920-AEFF-AB4A-8E12-CBF95C9CC402}">
      <dgm:prSet/>
      <dgm:spPr/>
      <dgm:t>
        <a:bodyPr/>
        <a:lstStyle/>
        <a:p>
          <a:endParaRPr lang="en-GB"/>
        </a:p>
      </dgm:t>
    </dgm:pt>
    <dgm:pt modelId="{26F0E4BF-99DB-B240-8DCD-112D4C23156E}" type="sibTrans" cxnId="{78664920-AEFF-AB4A-8E12-CBF95C9CC402}">
      <dgm:prSet phldrT="1" phldr="0"/>
      <dgm:spPr/>
      <dgm:t>
        <a:bodyPr/>
        <a:lstStyle/>
        <a:p>
          <a:r>
            <a:t>1</a:t>
          </a:r>
        </a:p>
      </dgm:t>
    </dgm:pt>
    <dgm:pt modelId="{AAAB7BC5-CDC8-C94D-BEAB-AA5867471B79}">
      <dgm:prSet phldrT="[Text]"/>
      <dgm:spPr/>
      <dgm:t>
        <a:bodyPr/>
        <a:lstStyle/>
        <a:p>
          <a:r>
            <a:rPr lang="en-GB"/>
            <a:t>Bitstrings</a:t>
          </a:r>
        </a:p>
      </dgm:t>
    </dgm:pt>
    <dgm:pt modelId="{60DF3580-BD8E-9C4A-A4FA-83C2365973E7}" type="parTrans" cxnId="{FFD33C20-378D-C74E-94A7-0E1A4ED227B7}">
      <dgm:prSet/>
      <dgm:spPr/>
      <dgm:t>
        <a:bodyPr/>
        <a:lstStyle/>
        <a:p>
          <a:endParaRPr lang="en-GB"/>
        </a:p>
      </dgm:t>
    </dgm:pt>
    <dgm:pt modelId="{975CEE21-0361-1241-87BA-94D2CA75359C}" type="sibTrans" cxnId="{FFD33C20-378D-C74E-94A7-0E1A4ED227B7}">
      <dgm:prSet phldrT="2" phldr="0"/>
      <dgm:spPr/>
      <dgm:t>
        <a:bodyPr/>
        <a:lstStyle/>
        <a:p>
          <a:r>
            <a:t>2</a:t>
          </a:r>
        </a:p>
      </dgm:t>
    </dgm:pt>
    <dgm:pt modelId="{D4F0097E-5A7D-274E-A260-15103CB0CFC5}">
      <dgm:prSet phldrT="[Text]"/>
      <dgm:spPr/>
      <dgm:t>
        <a:bodyPr/>
        <a:lstStyle/>
        <a:p>
          <a:r>
            <a:rPr lang="en-GB"/>
            <a:t>Selected Subspace</a:t>
          </a:r>
        </a:p>
      </dgm:t>
    </dgm:pt>
    <dgm:pt modelId="{766760AB-8149-3447-85B2-924F2218A56A}" type="parTrans" cxnId="{7C1D15A6-254F-1E4A-9C21-0299E83F2768}">
      <dgm:prSet/>
      <dgm:spPr/>
      <dgm:t>
        <a:bodyPr/>
        <a:lstStyle/>
        <a:p>
          <a:endParaRPr lang="en-GB"/>
        </a:p>
      </dgm:t>
    </dgm:pt>
    <dgm:pt modelId="{F5B7B33B-37B9-024E-8394-8E67EB92A723}" type="sibTrans" cxnId="{7C1D15A6-254F-1E4A-9C21-0299E83F2768}">
      <dgm:prSet phldrT="3" phldr="0"/>
      <dgm:spPr/>
      <dgm:t>
        <a:bodyPr/>
        <a:lstStyle/>
        <a:p>
          <a:r>
            <a:t>3</a:t>
          </a:r>
        </a:p>
      </dgm:t>
    </dgm:pt>
    <dgm:pt modelId="{65A6DAE3-4EEE-C34F-98EC-7FC310659401}">
      <dgm:prSet phldrT="[Text]"/>
      <dgm:spPr/>
      <dgm:t>
        <a:bodyPr/>
        <a:lstStyle/>
        <a:p>
          <a:r>
            <a:rPr lang="en-GB"/>
            <a:t>SBD/SQD Energy</a:t>
          </a:r>
        </a:p>
      </dgm:t>
    </dgm:pt>
    <dgm:pt modelId="{73C69F0B-BCE3-3144-A6E1-7C86B4DDC30D}" type="parTrans" cxnId="{DC9EDA17-1318-3D41-8230-4A48EAA51667}">
      <dgm:prSet/>
      <dgm:spPr/>
      <dgm:t>
        <a:bodyPr/>
        <a:lstStyle/>
        <a:p>
          <a:endParaRPr lang="en-GB"/>
        </a:p>
      </dgm:t>
    </dgm:pt>
    <dgm:pt modelId="{476C9F13-779B-CE4D-A505-4A9B19DDAEFF}" type="sibTrans" cxnId="{DC9EDA17-1318-3D41-8230-4A48EAA51667}">
      <dgm:prSet phldrT="4" phldr="0"/>
      <dgm:spPr/>
      <dgm:t>
        <a:bodyPr/>
        <a:lstStyle/>
        <a:p>
          <a:r>
            <a:rPr lang="en-GB"/>
            <a:t>4</a:t>
          </a:r>
        </a:p>
      </dgm:t>
    </dgm:pt>
    <dgm:pt modelId="{952C750D-AB0B-774E-91EE-55A5DB3F639E}" type="pres">
      <dgm:prSet presAssocID="{D34E112B-532E-694A-9D7E-2C427936D89F}" presName="linearFlow" presStyleCnt="0">
        <dgm:presLayoutVars>
          <dgm:dir/>
          <dgm:animLvl val="lvl"/>
          <dgm:resizeHandles val="exact"/>
        </dgm:presLayoutVars>
      </dgm:prSet>
      <dgm:spPr/>
    </dgm:pt>
    <dgm:pt modelId="{5CA22DAA-36D6-F34D-8ACA-8CD52163DE19}" type="pres">
      <dgm:prSet presAssocID="{41A3AB66-3649-9247-9B34-920B9D25E45F}" presName="compositeNode" presStyleCnt="0"/>
      <dgm:spPr/>
    </dgm:pt>
    <dgm:pt modelId="{1A366469-DEF4-2E4D-AC3A-53D2DD08A4D0}" type="pres">
      <dgm:prSet presAssocID="{41A3AB66-3649-9247-9B34-920B9D25E45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B06FFEF-1714-B849-AA95-6C290F1CA3E6}" type="pres">
      <dgm:prSet presAssocID="{41A3AB66-3649-9247-9B34-920B9D25E45F}" presName="parSh" presStyleCnt="0"/>
      <dgm:spPr/>
    </dgm:pt>
    <dgm:pt modelId="{B2881345-49AC-AB4E-91CC-6ADBDC8D95E7}" type="pres">
      <dgm:prSet presAssocID="{41A3AB66-3649-9247-9B34-920B9D25E45F}" presName="lineNode" presStyleLbl="alignNode1" presStyleIdx="0" presStyleCnt="12"/>
      <dgm:spPr/>
    </dgm:pt>
    <dgm:pt modelId="{47F26AE8-72E9-0F41-BB8B-27188D25A451}" type="pres">
      <dgm:prSet presAssocID="{41A3AB66-3649-9247-9B34-920B9D25E45F}" presName="lineArrowNode" presStyleLbl="alignNode1" presStyleIdx="1" presStyleCnt="12"/>
      <dgm:spPr/>
    </dgm:pt>
    <dgm:pt modelId="{72B99C5C-57F9-644B-9B8C-925FE9664DD0}" type="pres">
      <dgm:prSet presAssocID="{26F0E4BF-99DB-B240-8DCD-112D4C23156E}" presName="sibTransNodeCircle" presStyleLbl="alignNode1" presStyleIdx="2" presStyleCnt="12">
        <dgm:presLayoutVars>
          <dgm:chMax val="0"/>
          <dgm:bulletEnabled/>
        </dgm:presLayoutVars>
      </dgm:prSet>
      <dgm:spPr/>
    </dgm:pt>
    <dgm:pt modelId="{9D591F70-3F91-8640-A349-1BF234BD090F}" type="pres">
      <dgm:prSet presAssocID="{26F0E4BF-99DB-B240-8DCD-112D4C23156E}" presName="spacerBetweenCircleAndCallout" presStyleCnt="0">
        <dgm:presLayoutVars/>
      </dgm:prSet>
      <dgm:spPr/>
    </dgm:pt>
    <dgm:pt modelId="{145D5D67-3A43-534B-B99F-0F2886636119}" type="pres">
      <dgm:prSet presAssocID="{26F0E4BF-99DB-B240-8DCD-112D4C23156E}" presName="verticalConnector" presStyleLbl="alignAccFollowNode1" presStyleIdx="0" presStyleCnt="4"/>
      <dgm:spPr/>
    </dgm:pt>
    <dgm:pt modelId="{C01518D3-A154-044E-8D20-58E846D5BC59}" type="pres">
      <dgm:prSet presAssocID="{41A3AB66-3649-9247-9B34-920B9D25E45F}" presName="nodeText" presStyleLbl="fgAcc1" presStyleIdx="0" presStyleCnt="4">
        <dgm:presLayoutVars>
          <dgm:bulletEnabled val="1"/>
        </dgm:presLayoutVars>
      </dgm:prSet>
      <dgm:spPr/>
    </dgm:pt>
    <dgm:pt modelId="{EA5D4738-3969-8C4E-9C0B-7E152C38DA63}" type="pres">
      <dgm:prSet presAssocID="{26F0E4BF-99DB-B240-8DCD-112D4C23156E}" presName="sibTransComposite" presStyleCnt="0"/>
      <dgm:spPr/>
    </dgm:pt>
    <dgm:pt modelId="{1AC4024D-7082-5E4E-B8AA-C5787DA36676}" type="pres">
      <dgm:prSet presAssocID="{AAAB7BC5-CDC8-C94D-BEAB-AA5867471B79}" presName="compositeNode" presStyleCnt="0"/>
      <dgm:spPr/>
    </dgm:pt>
    <dgm:pt modelId="{07728852-6381-2D4E-93D0-FE9303CD77D0}" type="pres">
      <dgm:prSet presAssocID="{AAAB7BC5-CDC8-C94D-BEAB-AA5867471B7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C8E2638A-19F3-7640-9864-6F2BBD999CCA}" type="pres">
      <dgm:prSet presAssocID="{AAAB7BC5-CDC8-C94D-BEAB-AA5867471B79}" presName="parSh" presStyleCnt="0"/>
      <dgm:spPr/>
    </dgm:pt>
    <dgm:pt modelId="{74E5B48B-4315-0045-88AF-9A4D51AA6F5D}" type="pres">
      <dgm:prSet presAssocID="{AAAB7BC5-CDC8-C94D-BEAB-AA5867471B79}" presName="lineNode" presStyleLbl="alignNode1" presStyleIdx="3" presStyleCnt="12"/>
      <dgm:spPr/>
    </dgm:pt>
    <dgm:pt modelId="{87D8B062-3ACC-8B44-89CB-08E9858DE891}" type="pres">
      <dgm:prSet presAssocID="{AAAB7BC5-CDC8-C94D-BEAB-AA5867471B79}" presName="lineArrowNode" presStyleLbl="alignNode1" presStyleIdx="4" presStyleCnt="12"/>
      <dgm:spPr/>
    </dgm:pt>
    <dgm:pt modelId="{515007E4-0104-0A46-A667-4CE80D2EE2D1}" type="pres">
      <dgm:prSet presAssocID="{975CEE21-0361-1241-87BA-94D2CA75359C}" presName="sibTransNodeCircle" presStyleLbl="alignNode1" presStyleIdx="5" presStyleCnt="12">
        <dgm:presLayoutVars>
          <dgm:chMax val="0"/>
          <dgm:bulletEnabled/>
        </dgm:presLayoutVars>
      </dgm:prSet>
      <dgm:spPr/>
    </dgm:pt>
    <dgm:pt modelId="{AAE71873-6631-234A-8979-FE93984AC088}" type="pres">
      <dgm:prSet presAssocID="{975CEE21-0361-1241-87BA-94D2CA75359C}" presName="spacerBetweenCircleAndCallout" presStyleCnt="0">
        <dgm:presLayoutVars/>
      </dgm:prSet>
      <dgm:spPr/>
    </dgm:pt>
    <dgm:pt modelId="{B969A617-37E7-3248-97D8-948BDE5D7050}" type="pres">
      <dgm:prSet presAssocID="{975CEE21-0361-1241-87BA-94D2CA75359C}" presName="verticalConnector" presStyleLbl="alignAccFollowNode1" presStyleIdx="1" presStyleCnt="4"/>
      <dgm:spPr/>
    </dgm:pt>
    <dgm:pt modelId="{A515099F-5FC4-D34B-8BB2-394A4BFFBDA4}" type="pres">
      <dgm:prSet presAssocID="{AAAB7BC5-CDC8-C94D-BEAB-AA5867471B79}" presName="nodeText" presStyleLbl="fgAcc1" presStyleIdx="1" presStyleCnt="4">
        <dgm:presLayoutVars>
          <dgm:bulletEnabled val="1"/>
        </dgm:presLayoutVars>
      </dgm:prSet>
      <dgm:spPr/>
    </dgm:pt>
    <dgm:pt modelId="{031B637E-506D-0948-9A39-E1CA59C14BEF}" type="pres">
      <dgm:prSet presAssocID="{975CEE21-0361-1241-87BA-94D2CA75359C}" presName="sibTransComposite" presStyleCnt="0"/>
      <dgm:spPr/>
    </dgm:pt>
    <dgm:pt modelId="{AE0B7C69-A329-6249-B41E-B6952432AAB5}" type="pres">
      <dgm:prSet presAssocID="{D4F0097E-5A7D-274E-A260-15103CB0CFC5}" presName="compositeNode" presStyleCnt="0"/>
      <dgm:spPr/>
    </dgm:pt>
    <dgm:pt modelId="{CDD8CC2F-3BD2-674E-8D80-71FF456F540B}" type="pres">
      <dgm:prSet presAssocID="{D4F0097E-5A7D-274E-A260-15103CB0CFC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4EDF196-10C3-1445-A1F8-291D1DA4EFD0}" type="pres">
      <dgm:prSet presAssocID="{D4F0097E-5A7D-274E-A260-15103CB0CFC5}" presName="parSh" presStyleCnt="0"/>
      <dgm:spPr/>
    </dgm:pt>
    <dgm:pt modelId="{0223962F-4C63-FB48-A687-F2CF209A76FE}" type="pres">
      <dgm:prSet presAssocID="{D4F0097E-5A7D-274E-A260-15103CB0CFC5}" presName="lineNode" presStyleLbl="alignNode1" presStyleIdx="6" presStyleCnt="12"/>
      <dgm:spPr/>
    </dgm:pt>
    <dgm:pt modelId="{08E8BB5D-B1E9-064A-9C5C-986CFA2E301C}" type="pres">
      <dgm:prSet presAssocID="{D4F0097E-5A7D-274E-A260-15103CB0CFC5}" presName="lineArrowNode" presStyleLbl="alignNode1" presStyleIdx="7" presStyleCnt="12"/>
      <dgm:spPr/>
    </dgm:pt>
    <dgm:pt modelId="{A32AB760-DBB7-5F47-8185-25CA97285678}" type="pres">
      <dgm:prSet presAssocID="{F5B7B33B-37B9-024E-8394-8E67EB92A723}" presName="sibTransNodeCircle" presStyleLbl="alignNode1" presStyleIdx="8" presStyleCnt="12">
        <dgm:presLayoutVars>
          <dgm:chMax val="0"/>
          <dgm:bulletEnabled/>
        </dgm:presLayoutVars>
      </dgm:prSet>
      <dgm:spPr/>
    </dgm:pt>
    <dgm:pt modelId="{7ED737A0-6451-FD46-96A4-0C6B2B34D075}" type="pres">
      <dgm:prSet presAssocID="{F5B7B33B-37B9-024E-8394-8E67EB92A723}" presName="spacerBetweenCircleAndCallout" presStyleCnt="0">
        <dgm:presLayoutVars/>
      </dgm:prSet>
      <dgm:spPr/>
    </dgm:pt>
    <dgm:pt modelId="{7EC3B07D-4668-0C4A-AB5F-0A62BC362162}" type="pres">
      <dgm:prSet presAssocID="{F5B7B33B-37B9-024E-8394-8E67EB92A723}" presName="verticalConnector" presStyleLbl="alignAccFollowNode1" presStyleIdx="2" presStyleCnt="4"/>
      <dgm:spPr/>
    </dgm:pt>
    <dgm:pt modelId="{F2FE37F7-D918-3042-A5A6-8F055E6766C1}" type="pres">
      <dgm:prSet presAssocID="{D4F0097E-5A7D-274E-A260-15103CB0CFC5}" presName="nodeText" presStyleLbl="fgAcc1" presStyleIdx="2" presStyleCnt="4">
        <dgm:presLayoutVars>
          <dgm:bulletEnabled val="1"/>
        </dgm:presLayoutVars>
      </dgm:prSet>
      <dgm:spPr/>
    </dgm:pt>
    <dgm:pt modelId="{A7CF9FC3-E905-2A45-B39E-FF0AFAB3B383}" type="pres">
      <dgm:prSet presAssocID="{F5B7B33B-37B9-024E-8394-8E67EB92A723}" presName="sibTransComposite" presStyleCnt="0"/>
      <dgm:spPr/>
    </dgm:pt>
    <dgm:pt modelId="{B42E5B67-8BDD-DC48-9F26-9A00C3658123}" type="pres">
      <dgm:prSet presAssocID="{65A6DAE3-4EEE-C34F-98EC-7FC310659401}" presName="compositeNode" presStyleCnt="0"/>
      <dgm:spPr/>
    </dgm:pt>
    <dgm:pt modelId="{688E413C-B12F-5249-8AE7-D19A7341CC1A}" type="pres">
      <dgm:prSet presAssocID="{65A6DAE3-4EEE-C34F-98EC-7FC31065940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6893D6C-4345-1749-BD5C-2B04DCF8D303}" type="pres">
      <dgm:prSet presAssocID="{65A6DAE3-4EEE-C34F-98EC-7FC310659401}" presName="parSh" presStyleCnt="0"/>
      <dgm:spPr/>
    </dgm:pt>
    <dgm:pt modelId="{F7E9CD16-E99E-2741-8A2C-B1BB16106608}" type="pres">
      <dgm:prSet presAssocID="{65A6DAE3-4EEE-C34F-98EC-7FC310659401}" presName="lineNode" presStyleLbl="alignNode1" presStyleIdx="9" presStyleCnt="12"/>
      <dgm:spPr/>
    </dgm:pt>
    <dgm:pt modelId="{74EA4DE7-E1AE-4D4F-A64B-65B68F695037}" type="pres">
      <dgm:prSet presAssocID="{65A6DAE3-4EEE-C34F-98EC-7FC310659401}" presName="lineArrowNode" presStyleLbl="alignNode1" presStyleIdx="10" presStyleCnt="12"/>
      <dgm:spPr/>
    </dgm:pt>
    <dgm:pt modelId="{6D0ED356-7F8A-0B4C-8D75-D8ECB22F2F0D}" type="pres">
      <dgm:prSet presAssocID="{476C9F13-779B-CE4D-A505-4A9B19DDAEFF}" presName="sibTransNodeCircle" presStyleLbl="alignNode1" presStyleIdx="11" presStyleCnt="12">
        <dgm:presLayoutVars>
          <dgm:chMax val="0"/>
          <dgm:bulletEnabled/>
        </dgm:presLayoutVars>
      </dgm:prSet>
      <dgm:spPr/>
    </dgm:pt>
    <dgm:pt modelId="{3BADDAAF-7AFF-DD40-B292-70697448925C}" type="pres">
      <dgm:prSet presAssocID="{476C9F13-779B-CE4D-A505-4A9B19DDAEFF}" presName="spacerBetweenCircleAndCallout" presStyleCnt="0">
        <dgm:presLayoutVars/>
      </dgm:prSet>
      <dgm:spPr/>
    </dgm:pt>
    <dgm:pt modelId="{ECDFC78D-03EB-8042-B4E8-8F84D9895F1F}" type="pres">
      <dgm:prSet presAssocID="{476C9F13-779B-CE4D-A505-4A9B19DDAEFF}" presName="verticalConnector" presStyleLbl="alignAccFollowNode1" presStyleIdx="3" presStyleCnt="4"/>
      <dgm:spPr/>
    </dgm:pt>
    <dgm:pt modelId="{CDA11DE9-1897-954F-ADE9-AE428A65D7A3}" type="pres">
      <dgm:prSet presAssocID="{65A6DAE3-4EEE-C34F-98EC-7FC310659401}" presName="nodeText" presStyleLbl="fgAcc1" presStyleIdx="3" presStyleCnt="4">
        <dgm:presLayoutVars>
          <dgm:bulletEnabled val="1"/>
        </dgm:presLayoutVars>
      </dgm:prSet>
      <dgm:spPr/>
    </dgm:pt>
  </dgm:ptLst>
  <dgm:cxnLst>
    <dgm:cxn modelId="{0EDEF216-7A9E-C04C-AD15-5257C4520C70}" type="presOf" srcId="{65A6DAE3-4EEE-C34F-98EC-7FC310659401}" destId="{CDA11DE9-1897-954F-ADE9-AE428A65D7A3}" srcOrd="1" destOrd="0" presId="urn:microsoft.com/office/officeart/2024/layout/NumberedLinearArrowProcess"/>
    <dgm:cxn modelId="{DC9EDA17-1318-3D41-8230-4A48EAA51667}" srcId="{D34E112B-532E-694A-9D7E-2C427936D89F}" destId="{65A6DAE3-4EEE-C34F-98EC-7FC310659401}" srcOrd="3" destOrd="0" parTransId="{73C69F0B-BCE3-3144-A6E1-7C86B4DDC30D}" sibTransId="{476C9F13-779B-CE4D-A505-4A9B19DDAEFF}"/>
    <dgm:cxn modelId="{FFD33C20-378D-C74E-94A7-0E1A4ED227B7}" srcId="{D34E112B-532E-694A-9D7E-2C427936D89F}" destId="{AAAB7BC5-CDC8-C94D-BEAB-AA5867471B79}" srcOrd="1" destOrd="0" parTransId="{60DF3580-BD8E-9C4A-A4FA-83C2365973E7}" sibTransId="{975CEE21-0361-1241-87BA-94D2CA75359C}"/>
    <dgm:cxn modelId="{78664920-AEFF-AB4A-8E12-CBF95C9CC402}" srcId="{D34E112B-532E-694A-9D7E-2C427936D89F}" destId="{41A3AB66-3649-9247-9B34-920B9D25E45F}" srcOrd="0" destOrd="0" parTransId="{282DE31C-866B-FC49-9077-84E08DC99EB3}" sibTransId="{26F0E4BF-99DB-B240-8DCD-112D4C23156E}"/>
    <dgm:cxn modelId="{EFC94E29-53FD-A94B-97FE-F817E37BA85A}" type="presOf" srcId="{AAAB7BC5-CDC8-C94D-BEAB-AA5867471B79}" destId="{87D8B062-3ACC-8B44-89CB-08E9858DE891}" srcOrd="0" destOrd="0" presId="urn:microsoft.com/office/officeart/2024/layout/NumberedLinearArrowProcess"/>
    <dgm:cxn modelId="{F455082D-007C-B044-991B-1E769525DBCD}" type="presOf" srcId="{D34E112B-532E-694A-9D7E-2C427936D89F}" destId="{952C750D-AB0B-774E-91EE-55A5DB3F639E}" srcOrd="0" destOrd="0" presId="urn:microsoft.com/office/officeart/2024/layout/NumberedLinearArrowProcess"/>
    <dgm:cxn modelId="{FAB3933D-7C6E-6D47-B8DD-AAB8D4942436}" type="presOf" srcId="{65A6DAE3-4EEE-C34F-98EC-7FC310659401}" destId="{74EA4DE7-E1AE-4D4F-A64B-65B68F695037}" srcOrd="0" destOrd="0" presId="urn:microsoft.com/office/officeart/2024/layout/NumberedLinearArrowProcess"/>
    <dgm:cxn modelId="{2AA5A53D-AD38-0D41-A2D2-456DC6B18E62}" type="presOf" srcId="{D4F0097E-5A7D-274E-A260-15103CB0CFC5}" destId="{08E8BB5D-B1E9-064A-9C5C-986CFA2E301C}" srcOrd="0" destOrd="0" presId="urn:microsoft.com/office/officeart/2024/layout/NumberedLinearArrowProcess"/>
    <dgm:cxn modelId="{DA623956-0A28-D647-AD8F-D47187D80FEB}" type="presOf" srcId="{975CEE21-0361-1241-87BA-94D2CA75359C}" destId="{515007E4-0104-0A46-A667-4CE80D2EE2D1}" srcOrd="0" destOrd="0" presId="urn:microsoft.com/office/officeart/2024/layout/NumberedLinearArrowProcess"/>
    <dgm:cxn modelId="{9735917C-37FE-9743-B61A-EEDE6ED098CA}" type="presOf" srcId="{476C9F13-779B-CE4D-A505-4A9B19DDAEFF}" destId="{6D0ED356-7F8A-0B4C-8D75-D8ECB22F2F0D}" srcOrd="0" destOrd="0" presId="urn:microsoft.com/office/officeart/2024/layout/NumberedLinearArrowProcess"/>
    <dgm:cxn modelId="{401C0387-2CA9-9E42-AEB6-FF239999D73F}" type="presOf" srcId="{26F0E4BF-99DB-B240-8DCD-112D4C23156E}" destId="{72B99C5C-57F9-644B-9B8C-925FE9664DD0}" srcOrd="0" destOrd="0" presId="urn:microsoft.com/office/officeart/2024/layout/NumberedLinearArrowProcess"/>
    <dgm:cxn modelId="{7C1D15A6-254F-1E4A-9C21-0299E83F2768}" srcId="{D34E112B-532E-694A-9D7E-2C427936D89F}" destId="{D4F0097E-5A7D-274E-A260-15103CB0CFC5}" srcOrd="2" destOrd="0" parTransId="{766760AB-8149-3447-85B2-924F2218A56A}" sibTransId="{F5B7B33B-37B9-024E-8394-8E67EB92A723}"/>
    <dgm:cxn modelId="{32FDE2AD-84AD-C049-8501-0E1660AEF799}" type="presOf" srcId="{AAAB7BC5-CDC8-C94D-BEAB-AA5867471B79}" destId="{A515099F-5FC4-D34B-8BB2-394A4BFFBDA4}" srcOrd="1" destOrd="0" presId="urn:microsoft.com/office/officeart/2024/layout/NumberedLinearArrowProcess"/>
    <dgm:cxn modelId="{1DF2B6D7-D956-AF42-9332-7FBD9CA858F7}" type="presOf" srcId="{F5B7B33B-37B9-024E-8394-8E67EB92A723}" destId="{A32AB760-DBB7-5F47-8185-25CA97285678}" srcOrd="0" destOrd="0" presId="urn:microsoft.com/office/officeart/2024/layout/NumberedLinearArrowProcess"/>
    <dgm:cxn modelId="{7DCF6AE3-CD00-724B-80D4-EEC5CF7B80FA}" type="presOf" srcId="{41A3AB66-3649-9247-9B34-920B9D25E45F}" destId="{C01518D3-A154-044E-8D20-58E846D5BC59}" srcOrd="1" destOrd="0" presId="urn:microsoft.com/office/officeart/2024/layout/NumberedLinearArrowProcess"/>
    <dgm:cxn modelId="{06608EE9-57DF-4B43-8CF7-4195C3E87A8B}" type="presOf" srcId="{41A3AB66-3649-9247-9B34-920B9D25E45F}" destId="{47F26AE8-72E9-0F41-BB8B-27188D25A451}" srcOrd="0" destOrd="0" presId="urn:microsoft.com/office/officeart/2024/layout/NumberedLinearArrowProcess"/>
    <dgm:cxn modelId="{9BF162F2-9E46-BB44-99F8-2B71D122A02A}" type="presOf" srcId="{D4F0097E-5A7D-274E-A260-15103CB0CFC5}" destId="{F2FE37F7-D918-3042-A5A6-8F055E6766C1}" srcOrd="1" destOrd="0" presId="urn:microsoft.com/office/officeart/2024/layout/NumberedLinearArrowProcess"/>
    <dgm:cxn modelId="{652AFB32-03B8-F546-B0F0-58715AD0EC3E}" type="presParOf" srcId="{952C750D-AB0B-774E-91EE-55A5DB3F639E}" destId="{5CA22DAA-36D6-F34D-8ACA-8CD52163DE19}" srcOrd="0" destOrd="0" presId="urn:microsoft.com/office/officeart/2024/layout/NumberedLinearArrowProcess"/>
    <dgm:cxn modelId="{5FAC9CA8-1B13-3D47-816E-9FB1BD1818B6}" type="presParOf" srcId="{5CA22DAA-36D6-F34D-8ACA-8CD52163DE19}" destId="{1A366469-DEF4-2E4D-AC3A-53D2DD08A4D0}" srcOrd="0" destOrd="0" presId="urn:microsoft.com/office/officeart/2024/layout/NumberedLinearArrowProcess"/>
    <dgm:cxn modelId="{9805B8B0-ABDE-0D4C-A8EC-B88D344A5F0F}" type="presParOf" srcId="{5CA22DAA-36D6-F34D-8ACA-8CD52163DE19}" destId="{EB06FFEF-1714-B849-AA95-6C290F1CA3E6}" srcOrd="1" destOrd="0" presId="urn:microsoft.com/office/officeart/2024/layout/NumberedLinearArrowProcess"/>
    <dgm:cxn modelId="{4C193CDE-D362-3F4F-9B40-9689FCFCF1AA}" type="presParOf" srcId="{EB06FFEF-1714-B849-AA95-6C290F1CA3E6}" destId="{B2881345-49AC-AB4E-91CC-6ADBDC8D95E7}" srcOrd="0" destOrd="0" presId="urn:microsoft.com/office/officeart/2024/layout/NumberedLinearArrowProcess"/>
    <dgm:cxn modelId="{1CE6792E-B10B-D840-83E1-39EDF908298D}" type="presParOf" srcId="{EB06FFEF-1714-B849-AA95-6C290F1CA3E6}" destId="{47F26AE8-72E9-0F41-BB8B-27188D25A451}" srcOrd="1" destOrd="0" presId="urn:microsoft.com/office/officeart/2024/layout/NumberedLinearArrowProcess"/>
    <dgm:cxn modelId="{844FCD98-9BBC-B843-9205-4CE35672810C}" type="presParOf" srcId="{EB06FFEF-1714-B849-AA95-6C290F1CA3E6}" destId="{72B99C5C-57F9-644B-9B8C-925FE9664DD0}" srcOrd="2" destOrd="0" presId="urn:microsoft.com/office/officeart/2024/layout/NumberedLinearArrowProcess"/>
    <dgm:cxn modelId="{E3A0877C-AB04-2A45-A7BD-0E09EFEBDB77}" type="presParOf" srcId="{EB06FFEF-1714-B849-AA95-6C290F1CA3E6}" destId="{9D591F70-3F91-8640-A349-1BF234BD090F}" srcOrd="3" destOrd="0" presId="urn:microsoft.com/office/officeart/2024/layout/NumberedLinearArrowProcess"/>
    <dgm:cxn modelId="{3DAC2FA3-6E59-7340-8CC2-484F77174198}" type="presParOf" srcId="{EB06FFEF-1714-B849-AA95-6C290F1CA3E6}" destId="{145D5D67-3A43-534B-B99F-0F2886636119}" srcOrd="4" destOrd="0" presId="urn:microsoft.com/office/officeart/2024/layout/NumberedLinearArrowProcess"/>
    <dgm:cxn modelId="{77618F77-772C-8349-8803-536F9F37E207}" type="presParOf" srcId="{5CA22DAA-36D6-F34D-8ACA-8CD52163DE19}" destId="{C01518D3-A154-044E-8D20-58E846D5BC59}" srcOrd="2" destOrd="0" presId="urn:microsoft.com/office/officeart/2024/layout/NumberedLinearArrowProcess"/>
    <dgm:cxn modelId="{676A21F0-DA71-3B45-B6B0-CEC282B7BF84}" type="presParOf" srcId="{952C750D-AB0B-774E-91EE-55A5DB3F639E}" destId="{EA5D4738-3969-8C4E-9C0B-7E152C38DA63}" srcOrd="1" destOrd="0" presId="urn:microsoft.com/office/officeart/2024/layout/NumberedLinearArrowProcess"/>
    <dgm:cxn modelId="{4F6C7005-510C-644B-8EA7-C8D9C96AAB07}" type="presParOf" srcId="{952C750D-AB0B-774E-91EE-55A5DB3F639E}" destId="{1AC4024D-7082-5E4E-B8AA-C5787DA36676}" srcOrd="2" destOrd="0" presId="urn:microsoft.com/office/officeart/2024/layout/NumberedLinearArrowProcess"/>
    <dgm:cxn modelId="{DA0D338F-CD8E-DD4A-AFEA-DC6F1AD1AB11}" type="presParOf" srcId="{1AC4024D-7082-5E4E-B8AA-C5787DA36676}" destId="{07728852-6381-2D4E-93D0-FE9303CD77D0}" srcOrd="0" destOrd="0" presId="urn:microsoft.com/office/officeart/2024/layout/NumberedLinearArrowProcess"/>
    <dgm:cxn modelId="{F66D2276-01B3-9A4E-B93C-53DD23A253BE}" type="presParOf" srcId="{1AC4024D-7082-5E4E-B8AA-C5787DA36676}" destId="{C8E2638A-19F3-7640-9864-6F2BBD999CCA}" srcOrd="1" destOrd="0" presId="urn:microsoft.com/office/officeart/2024/layout/NumberedLinearArrowProcess"/>
    <dgm:cxn modelId="{133F7849-FE43-8B43-B049-AB3DA1F6C46B}" type="presParOf" srcId="{C8E2638A-19F3-7640-9864-6F2BBD999CCA}" destId="{74E5B48B-4315-0045-88AF-9A4D51AA6F5D}" srcOrd="0" destOrd="0" presId="urn:microsoft.com/office/officeart/2024/layout/NumberedLinearArrowProcess"/>
    <dgm:cxn modelId="{65CC75E3-416F-A740-8EA4-D6EB30ADFECE}" type="presParOf" srcId="{C8E2638A-19F3-7640-9864-6F2BBD999CCA}" destId="{87D8B062-3ACC-8B44-89CB-08E9858DE891}" srcOrd="1" destOrd="0" presId="urn:microsoft.com/office/officeart/2024/layout/NumberedLinearArrowProcess"/>
    <dgm:cxn modelId="{FC0071D5-802F-EF4B-AAEE-BB71249E28E6}" type="presParOf" srcId="{C8E2638A-19F3-7640-9864-6F2BBD999CCA}" destId="{515007E4-0104-0A46-A667-4CE80D2EE2D1}" srcOrd="2" destOrd="0" presId="urn:microsoft.com/office/officeart/2024/layout/NumberedLinearArrowProcess"/>
    <dgm:cxn modelId="{C35C7B31-BFF7-624E-B2B2-F1086D0FDAF1}" type="presParOf" srcId="{C8E2638A-19F3-7640-9864-6F2BBD999CCA}" destId="{AAE71873-6631-234A-8979-FE93984AC088}" srcOrd="3" destOrd="0" presId="urn:microsoft.com/office/officeart/2024/layout/NumberedLinearArrowProcess"/>
    <dgm:cxn modelId="{4411AAB2-4DE9-6749-9828-BF3043C70A44}" type="presParOf" srcId="{C8E2638A-19F3-7640-9864-6F2BBD999CCA}" destId="{B969A617-37E7-3248-97D8-948BDE5D7050}" srcOrd="4" destOrd="0" presId="urn:microsoft.com/office/officeart/2024/layout/NumberedLinearArrowProcess"/>
    <dgm:cxn modelId="{FF0517DB-53A1-234C-AF38-B3642DE20560}" type="presParOf" srcId="{1AC4024D-7082-5E4E-B8AA-C5787DA36676}" destId="{A515099F-5FC4-D34B-8BB2-394A4BFFBDA4}" srcOrd="2" destOrd="0" presId="urn:microsoft.com/office/officeart/2024/layout/NumberedLinearArrowProcess"/>
    <dgm:cxn modelId="{8CE2CBD4-323C-E444-B66E-778CD91919AE}" type="presParOf" srcId="{952C750D-AB0B-774E-91EE-55A5DB3F639E}" destId="{031B637E-506D-0948-9A39-E1CA59C14BEF}" srcOrd="3" destOrd="0" presId="urn:microsoft.com/office/officeart/2024/layout/NumberedLinearArrowProcess"/>
    <dgm:cxn modelId="{C3E65C17-1121-014A-869A-854A014838C0}" type="presParOf" srcId="{952C750D-AB0B-774E-91EE-55A5DB3F639E}" destId="{AE0B7C69-A329-6249-B41E-B6952432AAB5}" srcOrd="4" destOrd="0" presId="urn:microsoft.com/office/officeart/2024/layout/NumberedLinearArrowProcess"/>
    <dgm:cxn modelId="{A8708ECA-E404-6E47-86D4-0695993721EC}" type="presParOf" srcId="{AE0B7C69-A329-6249-B41E-B6952432AAB5}" destId="{CDD8CC2F-3BD2-674E-8D80-71FF456F540B}" srcOrd="0" destOrd="0" presId="urn:microsoft.com/office/officeart/2024/layout/NumberedLinearArrowProcess"/>
    <dgm:cxn modelId="{F496B430-C218-6C47-93AA-E1F70D17FEB0}" type="presParOf" srcId="{AE0B7C69-A329-6249-B41E-B6952432AAB5}" destId="{B4EDF196-10C3-1445-A1F8-291D1DA4EFD0}" srcOrd="1" destOrd="0" presId="urn:microsoft.com/office/officeart/2024/layout/NumberedLinearArrowProcess"/>
    <dgm:cxn modelId="{A3D431F7-19D9-574F-A27D-169B6A59BB27}" type="presParOf" srcId="{B4EDF196-10C3-1445-A1F8-291D1DA4EFD0}" destId="{0223962F-4C63-FB48-A687-F2CF209A76FE}" srcOrd="0" destOrd="0" presId="urn:microsoft.com/office/officeart/2024/layout/NumberedLinearArrowProcess"/>
    <dgm:cxn modelId="{A4A2E561-3745-9542-8AB2-EF246964E602}" type="presParOf" srcId="{B4EDF196-10C3-1445-A1F8-291D1DA4EFD0}" destId="{08E8BB5D-B1E9-064A-9C5C-986CFA2E301C}" srcOrd="1" destOrd="0" presId="urn:microsoft.com/office/officeart/2024/layout/NumberedLinearArrowProcess"/>
    <dgm:cxn modelId="{D41D56DE-4192-E04A-8688-C4DFDC548B44}" type="presParOf" srcId="{B4EDF196-10C3-1445-A1F8-291D1DA4EFD0}" destId="{A32AB760-DBB7-5F47-8185-25CA97285678}" srcOrd="2" destOrd="0" presId="urn:microsoft.com/office/officeart/2024/layout/NumberedLinearArrowProcess"/>
    <dgm:cxn modelId="{15888928-1F79-8340-BDB8-984156EBD7AB}" type="presParOf" srcId="{B4EDF196-10C3-1445-A1F8-291D1DA4EFD0}" destId="{7ED737A0-6451-FD46-96A4-0C6B2B34D075}" srcOrd="3" destOrd="0" presId="urn:microsoft.com/office/officeart/2024/layout/NumberedLinearArrowProcess"/>
    <dgm:cxn modelId="{21C72E44-5B43-4A4A-8783-F6276872AB33}" type="presParOf" srcId="{B4EDF196-10C3-1445-A1F8-291D1DA4EFD0}" destId="{7EC3B07D-4668-0C4A-AB5F-0A62BC362162}" srcOrd="4" destOrd="0" presId="urn:microsoft.com/office/officeart/2024/layout/NumberedLinearArrowProcess"/>
    <dgm:cxn modelId="{AED8F161-431B-D04C-A783-9225923E8BB0}" type="presParOf" srcId="{AE0B7C69-A329-6249-B41E-B6952432AAB5}" destId="{F2FE37F7-D918-3042-A5A6-8F055E6766C1}" srcOrd="2" destOrd="0" presId="urn:microsoft.com/office/officeart/2024/layout/NumberedLinearArrowProcess"/>
    <dgm:cxn modelId="{E3D186B8-D933-7F47-97DD-BA65BC0C6DA0}" type="presParOf" srcId="{952C750D-AB0B-774E-91EE-55A5DB3F639E}" destId="{A7CF9FC3-E905-2A45-B39E-FF0AFAB3B383}" srcOrd="5" destOrd="0" presId="urn:microsoft.com/office/officeart/2024/layout/NumberedLinearArrowProcess"/>
    <dgm:cxn modelId="{C8300069-0C09-4F49-BEC2-FA9D46CF8138}" type="presParOf" srcId="{952C750D-AB0B-774E-91EE-55A5DB3F639E}" destId="{B42E5B67-8BDD-DC48-9F26-9A00C3658123}" srcOrd="6" destOrd="0" presId="urn:microsoft.com/office/officeart/2024/layout/NumberedLinearArrowProcess"/>
    <dgm:cxn modelId="{423D5C96-E7CC-2A49-834A-3CEF55F68DD7}" type="presParOf" srcId="{B42E5B67-8BDD-DC48-9F26-9A00C3658123}" destId="{688E413C-B12F-5249-8AE7-D19A7341CC1A}" srcOrd="0" destOrd="0" presId="urn:microsoft.com/office/officeart/2024/layout/NumberedLinearArrowProcess"/>
    <dgm:cxn modelId="{726160C5-2879-FF4E-A442-FBE5617E2AA3}" type="presParOf" srcId="{B42E5B67-8BDD-DC48-9F26-9A00C3658123}" destId="{16893D6C-4345-1749-BD5C-2B04DCF8D303}" srcOrd="1" destOrd="0" presId="urn:microsoft.com/office/officeart/2024/layout/NumberedLinearArrowProcess"/>
    <dgm:cxn modelId="{F696A562-1CD0-EE4D-ADFD-3C1A0379FF6B}" type="presParOf" srcId="{16893D6C-4345-1749-BD5C-2B04DCF8D303}" destId="{F7E9CD16-E99E-2741-8A2C-B1BB16106608}" srcOrd="0" destOrd="0" presId="urn:microsoft.com/office/officeart/2024/layout/NumberedLinearArrowProcess"/>
    <dgm:cxn modelId="{72F89DCC-53A4-7E4D-9643-3B6432A6CC0E}" type="presParOf" srcId="{16893D6C-4345-1749-BD5C-2B04DCF8D303}" destId="{74EA4DE7-E1AE-4D4F-A64B-65B68F695037}" srcOrd="1" destOrd="0" presId="urn:microsoft.com/office/officeart/2024/layout/NumberedLinearArrowProcess"/>
    <dgm:cxn modelId="{9E3CDAA5-2A0F-B840-A2C2-C1E4C923AC31}" type="presParOf" srcId="{16893D6C-4345-1749-BD5C-2B04DCF8D303}" destId="{6D0ED356-7F8A-0B4C-8D75-D8ECB22F2F0D}" srcOrd="2" destOrd="0" presId="urn:microsoft.com/office/officeart/2024/layout/NumberedLinearArrowProcess"/>
    <dgm:cxn modelId="{5AEB83AD-A32B-724F-9C0C-3E99BF5A3148}" type="presParOf" srcId="{16893D6C-4345-1749-BD5C-2B04DCF8D303}" destId="{3BADDAAF-7AFF-DD40-B292-70697448925C}" srcOrd="3" destOrd="0" presId="urn:microsoft.com/office/officeart/2024/layout/NumberedLinearArrowProcess"/>
    <dgm:cxn modelId="{90495924-B77C-6246-A664-18C3C5E146F4}" type="presParOf" srcId="{16893D6C-4345-1749-BD5C-2B04DCF8D303}" destId="{ECDFC78D-03EB-8042-B4E8-8F84D9895F1F}" srcOrd="4" destOrd="0" presId="urn:microsoft.com/office/officeart/2024/layout/NumberedLinearArrowProcess"/>
    <dgm:cxn modelId="{90BF7395-B42F-134A-A207-C94011759C67}" type="presParOf" srcId="{B42E5B67-8BDD-DC48-9F26-9A00C3658123}" destId="{CDA11DE9-1897-954F-ADE9-AE428A65D7A3}" srcOrd="2" destOrd="0" presId="urn:microsoft.com/office/officeart/2024/layout/NumberedLinear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F8734B-4B7B-6243-9D14-48830591325B}" type="doc">
      <dgm:prSet loTypeId="urn:microsoft.com/office/officeart/2005/8/layout/chevron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BD0CFEF-ABD0-724F-BFF3-C3AB2665C0E8}">
      <dgm:prSet phldrT="[Text]"/>
      <dgm:spPr/>
      <dgm:t>
        <a:bodyPr/>
        <a:lstStyle/>
        <a:p>
          <a:r>
            <a:rPr lang="en-GB" b="1"/>
            <a:t>1</a:t>
          </a:r>
        </a:p>
      </dgm:t>
    </dgm:pt>
    <dgm:pt modelId="{94C097A1-5A3D-804A-AC68-F5BCB03E7D80}" type="parTrans" cxnId="{11A9CBB3-95D9-EF4E-B4FE-CED2F89C543B}">
      <dgm:prSet/>
      <dgm:spPr/>
      <dgm:t>
        <a:bodyPr/>
        <a:lstStyle/>
        <a:p>
          <a:endParaRPr lang="en-GB"/>
        </a:p>
      </dgm:t>
    </dgm:pt>
    <dgm:pt modelId="{1530B3D3-32F7-5E43-BEF9-2B9A8D20ACF8}" type="sibTrans" cxnId="{11A9CBB3-95D9-EF4E-B4FE-CED2F89C543B}">
      <dgm:prSet/>
      <dgm:spPr/>
      <dgm:t>
        <a:bodyPr/>
        <a:lstStyle/>
        <a:p>
          <a:endParaRPr lang="en-GB"/>
        </a:p>
      </dgm:t>
    </dgm:pt>
    <dgm:pt modelId="{9716F635-26CB-CD42-8B69-7C9489383D86}">
      <dgm:prSet phldrT="[Text]"/>
      <dgm:spPr/>
      <dgm:t>
        <a:bodyPr/>
        <a:lstStyle/>
        <a:p>
          <a:r>
            <a:rPr lang="en-GB" b="0" i="0" u="none"/>
            <a:t>PySCF </a:t>
          </a:r>
          <a:endParaRPr lang="en-GB"/>
        </a:p>
      </dgm:t>
    </dgm:pt>
    <dgm:pt modelId="{7AEFAF19-71DB-7D41-AB68-C09F6F955901}" type="parTrans" cxnId="{3EE107A3-9AC3-0644-AB5B-094C3C510E9D}">
      <dgm:prSet/>
      <dgm:spPr/>
      <dgm:t>
        <a:bodyPr/>
        <a:lstStyle/>
        <a:p>
          <a:endParaRPr lang="en-GB"/>
        </a:p>
      </dgm:t>
    </dgm:pt>
    <dgm:pt modelId="{A01AEFF2-14F3-874D-BE91-0DA23F1F62D2}" type="sibTrans" cxnId="{3EE107A3-9AC3-0644-AB5B-094C3C510E9D}">
      <dgm:prSet/>
      <dgm:spPr/>
      <dgm:t>
        <a:bodyPr/>
        <a:lstStyle/>
        <a:p>
          <a:endParaRPr lang="en-GB"/>
        </a:p>
      </dgm:t>
    </dgm:pt>
    <dgm:pt modelId="{9136AD45-39C7-9B4F-871F-B5802DFE22F4}">
      <dgm:prSet phldrT="[Text]"/>
      <dgm:spPr/>
      <dgm:t>
        <a:bodyPr/>
        <a:lstStyle/>
        <a:p>
          <a:r>
            <a:rPr lang="en-GB" b="1"/>
            <a:t>2</a:t>
          </a:r>
        </a:p>
      </dgm:t>
    </dgm:pt>
    <dgm:pt modelId="{132B009A-5FDA-0C4C-88C2-24D18CF6A902}" type="parTrans" cxnId="{03261A09-9B97-A04E-8F3F-DA55AFFC050B}">
      <dgm:prSet/>
      <dgm:spPr/>
      <dgm:t>
        <a:bodyPr/>
        <a:lstStyle/>
        <a:p>
          <a:endParaRPr lang="en-GB"/>
        </a:p>
      </dgm:t>
    </dgm:pt>
    <dgm:pt modelId="{C5FD5771-7A23-1A41-B748-4685962EA08F}" type="sibTrans" cxnId="{03261A09-9B97-A04E-8F3F-DA55AFFC050B}">
      <dgm:prSet/>
      <dgm:spPr/>
      <dgm:t>
        <a:bodyPr/>
        <a:lstStyle/>
        <a:p>
          <a:endParaRPr lang="en-GB"/>
        </a:p>
      </dgm:t>
    </dgm:pt>
    <dgm:pt modelId="{3AC37882-451C-FE48-8A1F-D1F5A3B65580}">
      <dgm:prSet phldrT="[Text]"/>
      <dgm:spPr/>
      <dgm:t>
        <a:bodyPr/>
        <a:lstStyle/>
        <a:p>
          <a:r>
            <a:rPr lang="en-GB" b="0" i="0" u="none"/>
            <a:t>LUCJ Circuit</a:t>
          </a:r>
          <a:endParaRPr lang="en-GB"/>
        </a:p>
      </dgm:t>
    </dgm:pt>
    <dgm:pt modelId="{CF0A8759-3C6E-8A40-97C2-CEC2DAD18790}" type="parTrans" cxnId="{2794C6ED-8472-DE4A-83A8-DC6F83B3E05C}">
      <dgm:prSet/>
      <dgm:spPr/>
      <dgm:t>
        <a:bodyPr/>
        <a:lstStyle/>
        <a:p>
          <a:endParaRPr lang="en-GB"/>
        </a:p>
      </dgm:t>
    </dgm:pt>
    <dgm:pt modelId="{B3094D0D-3A1E-024E-9D60-D8FE266399F7}" type="sibTrans" cxnId="{2794C6ED-8472-DE4A-83A8-DC6F83B3E05C}">
      <dgm:prSet/>
      <dgm:spPr/>
      <dgm:t>
        <a:bodyPr/>
        <a:lstStyle/>
        <a:p>
          <a:endParaRPr lang="en-GB"/>
        </a:p>
      </dgm:t>
    </dgm:pt>
    <dgm:pt modelId="{8A23C555-6C54-AA48-BD9E-ECB2C9BB8ECE}">
      <dgm:prSet phldrT="[Text]"/>
      <dgm:spPr/>
      <dgm:t>
        <a:bodyPr/>
        <a:lstStyle/>
        <a:p>
          <a:r>
            <a:rPr lang="en-GB" b="1" i="0" u="none"/>
            <a:t>3</a:t>
          </a:r>
          <a:endParaRPr lang="en-GB" b="1"/>
        </a:p>
      </dgm:t>
    </dgm:pt>
    <dgm:pt modelId="{5D766D08-1330-BD4A-A85D-7751C5E8CBAA}" type="parTrans" cxnId="{6758832E-932E-F346-A13D-55A4AB8B868C}">
      <dgm:prSet/>
      <dgm:spPr/>
      <dgm:t>
        <a:bodyPr/>
        <a:lstStyle/>
        <a:p>
          <a:endParaRPr lang="en-GB"/>
        </a:p>
      </dgm:t>
    </dgm:pt>
    <dgm:pt modelId="{F6F18F6B-2200-4C41-BA8C-D089F3C22097}" type="sibTrans" cxnId="{6758832E-932E-F346-A13D-55A4AB8B868C}">
      <dgm:prSet/>
      <dgm:spPr/>
      <dgm:t>
        <a:bodyPr/>
        <a:lstStyle/>
        <a:p>
          <a:endParaRPr lang="en-GB"/>
        </a:p>
      </dgm:t>
    </dgm:pt>
    <dgm:pt modelId="{364D1223-CA1D-4244-8C5F-C3E9AA5CCCD9}">
      <dgm:prSet phldrT="[Text]"/>
      <dgm:spPr/>
      <dgm:t>
        <a:bodyPr/>
        <a:lstStyle/>
        <a:p>
          <a:r>
            <a:rPr lang="en-GB" b="0" i="0" u="none"/>
            <a:t>SBD diagonalisation</a:t>
          </a:r>
          <a:endParaRPr lang="en-GB"/>
        </a:p>
      </dgm:t>
    </dgm:pt>
    <dgm:pt modelId="{569B99E3-E133-1946-A7DF-D3690EFBA02D}" type="parTrans" cxnId="{1E6238F5-65DF-AB46-A8D0-60BAB1D2A9D4}">
      <dgm:prSet/>
      <dgm:spPr/>
      <dgm:t>
        <a:bodyPr/>
        <a:lstStyle/>
        <a:p>
          <a:endParaRPr lang="en-GB"/>
        </a:p>
      </dgm:t>
    </dgm:pt>
    <dgm:pt modelId="{DDF8F678-CE57-D043-B4B0-9808673B4379}" type="sibTrans" cxnId="{1E6238F5-65DF-AB46-A8D0-60BAB1D2A9D4}">
      <dgm:prSet/>
      <dgm:spPr/>
      <dgm:t>
        <a:bodyPr/>
        <a:lstStyle/>
        <a:p>
          <a:endParaRPr lang="en-GB"/>
        </a:p>
      </dgm:t>
    </dgm:pt>
    <dgm:pt modelId="{B9F10A13-1186-6B4D-B48B-5440D7302156}">
      <dgm:prSet phldrT="[Text]"/>
      <dgm:spPr/>
      <dgm:t>
        <a:bodyPr/>
        <a:lstStyle/>
        <a:p>
          <a:r>
            <a:rPr lang="en-GB" b="1"/>
            <a:t>4</a:t>
          </a:r>
        </a:p>
      </dgm:t>
    </dgm:pt>
    <dgm:pt modelId="{2A512E7C-D57B-7D48-A734-1A3C5F1BDF10}" type="parTrans" cxnId="{6D768D84-2F1D-6C41-A16C-806A24E810B0}">
      <dgm:prSet/>
      <dgm:spPr/>
      <dgm:t>
        <a:bodyPr/>
        <a:lstStyle/>
        <a:p>
          <a:endParaRPr lang="en-GB"/>
        </a:p>
      </dgm:t>
    </dgm:pt>
    <dgm:pt modelId="{8F3F6DED-8258-7146-8240-85131E8B74B4}" type="sibTrans" cxnId="{6D768D84-2F1D-6C41-A16C-806A24E810B0}">
      <dgm:prSet/>
      <dgm:spPr/>
      <dgm:t>
        <a:bodyPr/>
        <a:lstStyle/>
        <a:p>
          <a:endParaRPr lang="en-GB"/>
        </a:p>
      </dgm:t>
    </dgm:pt>
    <dgm:pt modelId="{C5BE41A7-0424-A34C-B616-A9289AAF55C8}">
      <dgm:prSet phldrT="[Text]"/>
      <dgm:spPr/>
      <dgm:t>
        <a:bodyPr/>
        <a:lstStyle/>
        <a:p>
          <a:r>
            <a:rPr lang="en-GB"/>
            <a:t>Aer (Qiskit) Sampling</a:t>
          </a:r>
        </a:p>
      </dgm:t>
    </dgm:pt>
    <dgm:pt modelId="{7BA45588-7CFB-314B-85E8-A5E05E6313A6}" type="parTrans" cxnId="{9CA4CE80-79FE-F644-97DD-11A8F455F8AD}">
      <dgm:prSet/>
      <dgm:spPr/>
      <dgm:t>
        <a:bodyPr/>
        <a:lstStyle/>
        <a:p>
          <a:endParaRPr lang="en-GB"/>
        </a:p>
      </dgm:t>
    </dgm:pt>
    <dgm:pt modelId="{32D2A8D1-E1F8-5248-8F56-988129213E65}" type="sibTrans" cxnId="{9CA4CE80-79FE-F644-97DD-11A8F455F8AD}">
      <dgm:prSet/>
      <dgm:spPr/>
      <dgm:t>
        <a:bodyPr/>
        <a:lstStyle/>
        <a:p>
          <a:endParaRPr lang="en-GB"/>
        </a:p>
      </dgm:t>
    </dgm:pt>
    <dgm:pt modelId="{86806A36-CC68-D340-AC13-E6168087500D}" type="pres">
      <dgm:prSet presAssocID="{C7F8734B-4B7B-6243-9D14-48830591325B}" presName="linearFlow" presStyleCnt="0">
        <dgm:presLayoutVars>
          <dgm:dir/>
          <dgm:animLvl val="lvl"/>
          <dgm:resizeHandles val="exact"/>
        </dgm:presLayoutVars>
      </dgm:prSet>
      <dgm:spPr/>
    </dgm:pt>
    <dgm:pt modelId="{164E4912-5777-5447-AC71-C09BE783399A}" type="pres">
      <dgm:prSet presAssocID="{0BD0CFEF-ABD0-724F-BFF3-C3AB2665C0E8}" presName="composite" presStyleCnt="0"/>
      <dgm:spPr/>
    </dgm:pt>
    <dgm:pt modelId="{A686C664-0659-A14E-8A92-1906A97583C4}" type="pres">
      <dgm:prSet presAssocID="{0BD0CFEF-ABD0-724F-BFF3-C3AB2665C0E8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BE84F43E-FBBF-714D-B92B-DE445F3633E4}" type="pres">
      <dgm:prSet presAssocID="{0BD0CFEF-ABD0-724F-BFF3-C3AB2665C0E8}" presName="descendantText" presStyleLbl="alignAcc1" presStyleIdx="0" presStyleCnt="4">
        <dgm:presLayoutVars>
          <dgm:bulletEnabled val="1"/>
        </dgm:presLayoutVars>
      </dgm:prSet>
      <dgm:spPr/>
    </dgm:pt>
    <dgm:pt modelId="{6EA56476-C88B-CB4C-889E-4DADD8FF4928}" type="pres">
      <dgm:prSet presAssocID="{1530B3D3-32F7-5E43-BEF9-2B9A8D20ACF8}" presName="sp" presStyleCnt="0"/>
      <dgm:spPr/>
    </dgm:pt>
    <dgm:pt modelId="{5C50CB22-8654-8940-8797-41A832517156}" type="pres">
      <dgm:prSet presAssocID="{9136AD45-39C7-9B4F-871F-B5802DFE22F4}" presName="composite" presStyleCnt="0"/>
      <dgm:spPr/>
    </dgm:pt>
    <dgm:pt modelId="{08BE5659-0AF6-F046-A97D-0A6807631F12}" type="pres">
      <dgm:prSet presAssocID="{9136AD45-39C7-9B4F-871F-B5802DFE22F4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B85ADDD9-A774-BA40-80A1-09D969FA566D}" type="pres">
      <dgm:prSet presAssocID="{9136AD45-39C7-9B4F-871F-B5802DFE22F4}" presName="descendantText" presStyleLbl="alignAcc1" presStyleIdx="1" presStyleCnt="4">
        <dgm:presLayoutVars>
          <dgm:bulletEnabled val="1"/>
        </dgm:presLayoutVars>
      </dgm:prSet>
      <dgm:spPr/>
    </dgm:pt>
    <dgm:pt modelId="{4C92A857-0E1E-5541-B582-0BCA6C64EA49}" type="pres">
      <dgm:prSet presAssocID="{C5FD5771-7A23-1A41-B748-4685962EA08F}" presName="sp" presStyleCnt="0"/>
      <dgm:spPr/>
    </dgm:pt>
    <dgm:pt modelId="{55D2FFF4-2708-324F-9CB4-5B1F16C30C63}" type="pres">
      <dgm:prSet presAssocID="{8A23C555-6C54-AA48-BD9E-ECB2C9BB8ECE}" presName="composite" presStyleCnt="0"/>
      <dgm:spPr/>
    </dgm:pt>
    <dgm:pt modelId="{574CBF92-F6B0-6440-9E14-5130A10C3460}" type="pres">
      <dgm:prSet presAssocID="{8A23C555-6C54-AA48-BD9E-ECB2C9BB8ECE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BE244658-2B7F-984B-9911-5D3880837487}" type="pres">
      <dgm:prSet presAssocID="{8A23C555-6C54-AA48-BD9E-ECB2C9BB8ECE}" presName="descendantText" presStyleLbl="alignAcc1" presStyleIdx="2" presStyleCnt="4">
        <dgm:presLayoutVars>
          <dgm:bulletEnabled val="1"/>
        </dgm:presLayoutVars>
      </dgm:prSet>
      <dgm:spPr/>
    </dgm:pt>
    <dgm:pt modelId="{87C6B29B-5852-0A4E-A97B-BA854A611AC0}" type="pres">
      <dgm:prSet presAssocID="{F6F18F6B-2200-4C41-BA8C-D089F3C22097}" presName="sp" presStyleCnt="0"/>
      <dgm:spPr/>
    </dgm:pt>
    <dgm:pt modelId="{2EF507F1-9191-CB41-A744-9DEB48BC5365}" type="pres">
      <dgm:prSet presAssocID="{B9F10A13-1186-6B4D-B48B-5440D7302156}" presName="composite" presStyleCnt="0"/>
      <dgm:spPr/>
    </dgm:pt>
    <dgm:pt modelId="{434EF334-6649-184F-9087-23E54291F4FC}" type="pres">
      <dgm:prSet presAssocID="{B9F10A13-1186-6B4D-B48B-5440D7302156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8F907FCC-C2B1-E449-ADDE-8C1126EB14E3}" type="pres">
      <dgm:prSet presAssocID="{B9F10A13-1186-6B4D-B48B-5440D7302156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03261A09-9B97-A04E-8F3F-DA55AFFC050B}" srcId="{C7F8734B-4B7B-6243-9D14-48830591325B}" destId="{9136AD45-39C7-9B4F-871F-B5802DFE22F4}" srcOrd="1" destOrd="0" parTransId="{132B009A-5FDA-0C4C-88C2-24D18CF6A902}" sibTransId="{C5FD5771-7A23-1A41-B748-4685962EA08F}"/>
    <dgm:cxn modelId="{E548E626-810E-3F4C-AA77-CE68C35B08D7}" type="presOf" srcId="{0BD0CFEF-ABD0-724F-BFF3-C3AB2665C0E8}" destId="{A686C664-0659-A14E-8A92-1906A97583C4}" srcOrd="0" destOrd="0" presId="urn:microsoft.com/office/officeart/2005/8/layout/chevron2"/>
    <dgm:cxn modelId="{66FE002C-C633-E04C-8728-FABD12B34C5E}" type="presOf" srcId="{9716F635-26CB-CD42-8B69-7C9489383D86}" destId="{BE84F43E-FBBF-714D-B92B-DE445F3633E4}" srcOrd="0" destOrd="0" presId="urn:microsoft.com/office/officeart/2005/8/layout/chevron2"/>
    <dgm:cxn modelId="{B9A73E2C-2D62-7C4A-BFD1-0161D7167823}" type="presOf" srcId="{8A23C555-6C54-AA48-BD9E-ECB2C9BB8ECE}" destId="{574CBF92-F6B0-6440-9E14-5130A10C3460}" srcOrd="0" destOrd="0" presId="urn:microsoft.com/office/officeart/2005/8/layout/chevron2"/>
    <dgm:cxn modelId="{6758832E-932E-F346-A13D-55A4AB8B868C}" srcId="{C7F8734B-4B7B-6243-9D14-48830591325B}" destId="{8A23C555-6C54-AA48-BD9E-ECB2C9BB8ECE}" srcOrd="2" destOrd="0" parTransId="{5D766D08-1330-BD4A-A85D-7751C5E8CBAA}" sibTransId="{F6F18F6B-2200-4C41-BA8C-D089F3C22097}"/>
    <dgm:cxn modelId="{AA2BDE3C-986A-774C-9C4D-90FBD8103E88}" type="presOf" srcId="{3AC37882-451C-FE48-8A1F-D1F5A3B65580}" destId="{B85ADDD9-A774-BA40-80A1-09D969FA566D}" srcOrd="0" destOrd="0" presId="urn:microsoft.com/office/officeart/2005/8/layout/chevron2"/>
    <dgm:cxn modelId="{D461E76E-B064-2A44-82C4-7A0E014AF329}" type="presOf" srcId="{C7F8734B-4B7B-6243-9D14-48830591325B}" destId="{86806A36-CC68-D340-AC13-E6168087500D}" srcOrd="0" destOrd="0" presId="urn:microsoft.com/office/officeart/2005/8/layout/chevron2"/>
    <dgm:cxn modelId="{5962E47A-515D-9043-8E68-4DEA88313D27}" type="presOf" srcId="{9136AD45-39C7-9B4F-871F-B5802DFE22F4}" destId="{08BE5659-0AF6-F046-A97D-0A6807631F12}" srcOrd="0" destOrd="0" presId="urn:microsoft.com/office/officeart/2005/8/layout/chevron2"/>
    <dgm:cxn modelId="{9CA4CE80-79FE-F644-97DD-11A8F455F8AD}" srcId="{8A23C555-6C54-AA48-BD9E-ECB2C9BB8ECE}" destId="{C5BE41A7-0424-A34C-B616-A9289AAF55C8}" srcOrd="0" destOrd="0" parTransId="{7BA45588-7CFB-314B-85E8-A5E05E6313A6}" sibTransId="{32D2A8D1-E1F8-5248-8F56-988129213E65}"/>
    <dgm:cxn modelId="{6D768D84-2F1D-6C41-A16C-806A24E810B0}" srcId="{C7F8734B-4B7B-6243-9D14-48830591325B}" destId="{B9F10A13-1186-6B4D-B48B-5440D7302156}" srcOrd="3" destOrd="0" parTransId="{2A512E7C-D57B-7D48-A734-1A3C5F1BDF10}" sibTransId="{8F3F6DED-8258-7146-8240-85131E8B74B4}"/>
    <dgm:cxn modelId="{3EE107A3-9AC3-0644-AB5B-094C3C510E9D}" srcId="{0BD0CFEF-ABD0-724F-BFF3-C3AB2665C0E8}" destId="{9716F635-26CB-CD42-8B69-7C9489383D86}" srcOrd="0" destOrd="0" parTransId="{7AEFAF19-71DB-7D41-AB68-C09F6F955901}" sibTransId="{A01AEFF2-14F3-874D-BE91-0DA23F1F62D2}"/>
    <dgm:cxn modelId="{11A9CBB3-95D9-EF4E-B4FE-CED2F89C543B}" srcId="{C7F8734B-4B7B-6243-9D14-48830591325B}" destId="{0BD0CFEF-ABD0-724F-BFF3-C3AB2665C0E8}" srcOrd="0" destOrd="0" parTransId="{94C097A1-5A3D-804A-AC68-F5BCB03E7D80}" sibTransId="{1530B3D3-32F7-5E43-BEF9-2B9A8D20ACF8}"/>
    <dgm:cxn modelId="{B069F2E1-F60A-FF4C-8B17-30B5EA4773E0}" type="presOf" srcId="{B9F10A13-1186-6B4D-B48B-5440D7302156}" destId="{434EF334-6649-184F-9087-23E54291F4FC}" srcOrd="0" destOrd="0" presId="urn:microsoft.com/office/officeart/2005/8/layout/chevron2"/>
    <dgm:cxn modelId="{A881ABE6-A8DC-194D-AB63-4A8291F095E2}" type="presOf" srcId="{364D1223-CA1D-4244-8C5F-C3E9AA5CCCD9}" destId="{8F907FCC-C2B1-E449-ADDE-8C1126EB14E3}" srcOrd="0" destOrd="0" presId="urn:microsoft.com/office/officeart/2005/8/layout/chevron2"/>
    <dgm:cxn modelId="{2794C6ED-8472-DE4A-83A8-DC6F83B3E05C}" srcId="{9136AD45-39C7-9B4F-871F-B5802DFE22F4}" destId="{3AC37882-451C-FE48-8A1F-D1F5A3B65580}" srcOrd="0" destOrd="0" parTransId="{CF0A8759-3C6E-8A40-97C2-CEC2DAD18790}" sibTransId="{B3094D0D-3A1E-024E-9D60-D8FE266399F7}"/>
    <dgm:cxn modelId="{1E6238F5-65DF-AB46-A8D0-60BAB1D2A9D4}" srcId="{B9F10A13-1186-6B4D-B48B-5440D7302156}" destId="{364D1223-CA1D-4244-8C5F-C3E9AA5CCCD9}" srcOrd="0" destOrd="0" parTransId="{569B99E3-E133-1946-A7DF-D3690EFBA02D}" sibTransId="{DDF8F678-CE57-D043-B4B0-9808673B4379}"/>
    <dgm:cxn modelId="{2147B5FD-25B9-584C-B9D3-6173962648C5}" type="presOf" srcId="{C5BE41A7-0424-A34C-B616-A9289AAF55C8}" destId="{BE244658-2B7F-984B-9911-5D3880837487}" srcOrd="0" destOrd="0" presId="urn:microsoft.com/office/officeart/2005/8/layout/chevron2"/>
    <dgm:cxn modelId="{CF017828-08AA-7D45-B54B-210B7425E285}" type="presParOf" srcId="{86806A36-CC68-D340-AC13-E6168087500D}" destId="{164E4912-5777-5447-AC71-C09BE783399A}" srcOrd="0" destOrd="0" presId="urn:microsoft.com/office/officeart/2005/8/layout/chevron2"/>
    <dgm:cxn modelId="{DE0EC538-01E9-A84A-871F-424404D50B58}" type="presParOf" srcId="{164E4912-5777-5447-AC71-C09BE783399A}" destId="{A686C664-0659-A14E-8A92-1906A97583C4}" srcOrd="0" destOrd="0" presId="urn:microsoft.com/office/officeart/2005/8/layout/chevron2"/>
    <dgm:cxn modelId="{8A2BEE58-E240-774F-978D-7133D3147A62}" type="presParOf" srcId="{164E4912-5777-5447-AC71-C09BE783399A}" destId="{BE84F43E-FBBF-714D-B92B-DE445F3633E4}" srcOrd="1" destOrd="0" presId="urn:microsoft.com/office/officeart/2005/8/layout/chevron2"/>
    <dgm:cxn modelId="{F8E7274E-7686-5B4C-8E6F-17046423E792}" type="presParOf" srcId="{86806A36-CC68-D340-AC13-E6168087500D}" destId="{6EA56476-C88B-CB4C-889E-4DADD8FF4928}" srcOrd="1" destOrd="0" presId="urn:microsoft.com/office/officeart/2005/8/layout/chevron2"/>
    <dgm:cxn modelId="{40E680FA-3ACF-834B-B8CB-D02544702E73}" type="presParOf" srcId="{86806A36-CC68-D340-AC13-E6168087500D}" destId="{5C50CB22-8654-8940-8797-41A832517156}" srcOrd="2" destOrd="0" presId="urn:microsoft.com/office/officeart/2005/8/layout/chevron2"/>
    <dgm:cxn modelId="{B96FD289-276E-2448-B44E-24A842E824E4}" type="presParOf" srcId="{5C50CB22-8654-8940-8797-41A832517156}" destId="{08BE5659-0AF6-F046-A97D-0A6807631F12}" srcOrd="0" destOrd="0" presId="urn:microsoft.com/office/officeart/2005/8/layout/chevron2"/>
    <dgm:cxn modelId="{EC78BC2A-C26B-2D4B-961A-12BE1EE769A1}" type="presParOf" srcId="{5C50CB22-8654-8940-8797-41A832517156}" destId="{B85ADDD9-A774-BA40-80A1-09D969FA566D}" srcOrd="1" destOrd="0" presId="urn:microsoft.com/office/officeart/2005/8/layout/chevron2"/>
    <dgm:cxn modelId="{8E889A49-8A29-6C4D-AD5C-661D90327059}" type="presParOf" srcId="{86806A36-CC68-D340-AC13-E6168087500D}" destId="{4C92A857-0E1E-5541-B582-0BCA6C64EA49}" srcOrd="3" destOrd="0" presId="urn:microsoft.com/office/officeart/2005/8/layout/chevron2"/>
    <dgm:cxn modelId="{358DEE33-414B-C34F-BAEB-9B70C2AE4B2D}" type="presParOf" srcId="{86806A36-CC68-D340-AC13-E6168087500D}" destId="{55D2FFF4-2708-324F-9CB4-5B1F16C30C63}" srcOrd="4" destOrd="0" presId="urn:microsoft.com/office/officeart/2005/8/layout/chevron2"/>
    <dgm:cxn modelId="{1F365573-62EE-6946-B439-AEFD12019197}" type="presParOf" srcId="{55D2FFF4-2708-324F-9CB4-5B1F16C30C63}" destId="{574CBF92-F6B0-6440-9E14-5130A10C3460}" srcOrd="0" destOrd="0" presId="urn:microsoft.com/office/officeart/2005/8/layout/chevron2"/>
    <dgm:cxn modelId="{7B482DC6-DDE5-F34E-987C-F91594808BB4}" type="presParOf" srcId="{55D2FFF4-2708-324F-9CB4-5B1F16C30C63}" destId="{BE244658-2B7F-984B-9911-5D3880837487}" srcOrd="1" destOrd="0" presId="urn:microsoft.com/office/officeart/2005/8/layout/chevron2"/>
    <dgm:cxn modelId="{55D0D052-E46F-AC4E-BD91-BA75EDBF0EEE}" type="presParOf" srcId="{86806A36-CC68-D340-AC13-E6168087500D}" destId="{87C6B29B-5852-0A4E-A97B-BA854A611AC0}" srcOrd="5" destOrd="0" presId="urn:microsoft.com/office/officeart/2005/8/layout/chevron2"/>
    <dgm:cxn modelId="{483BB5D7-E135-6849-8ADB-A2EC3FFE5755}" type="presParOf" srcId="{86806A36-CC68-D340-AC13-E6168087500D}" destId="{2EF507F1-9191-CB41-A744-9DEB48BC5365}" srcOrd="6" destOrd="0" presId="urn:microsoft.com/office/officeart/2005/8/layout/chevron2"/>
    <dgm:cxn modelId="{963A248E-DA44-0441-8A87-8D5DAE641659}" type="presParOf" srcId="{2EF507F1-9191-CB41-A744-9DEB48BC5365}" destId="{434EF334-6649-184F-9087-23E54291F4FC}" srcOrd="0" destOrd="0" presId="urn:microsoft.com/office/officeart/2005/8/layout/chevron2"/>
    <dgm:cxn modelId="{50E5711E-FD1E-0E4E-B452-4DA66ED17A15}" type="presParOf" srcId="{2EF507F1-9191-CB41-A744-9DEB48BC5365}" destId="{8F907FCC-C2B1-E449-ADDE-8C1126EB14E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881345-49AC-AB4E-91CC-6ADBDC8D95E7}">
      <dsp:nvSpPr>
        <dsp:cNvPr id="0" name=""/>
        <dsp:cNvSpPr/>
      </dsp:nvSpPr>
      <dsp:spPr>
        <a:xfrm>
          <a:off x="1140203" y="287373"/>
          <a:ext cx="725584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F26AE8-72E9-0F41-BB8B-27188D25A451}">
      <dsp:nvSpPr>
        <dsp:cNvPr id="0" name=""/>
        <dsp:cNvSpPr/>
      </dsp:nvSpPr>
      <dsp:spPr>
        <a:xfrm>
          <a:off x="1803594" y="202827"/>
          <a:ext cx="95362" cy="179109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910" tIns="165100" rIns="32910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LUCJ Ansatz</a:t>
          </a:r>
        </a:p>
      </dsp:txBody>
      <dsp:txXfrm>
        <a:off x="135804" y="1027236"/>
        <a:ext cx="1801487" cy="1033365"/>
      </dsp:txXfrm>
    </dsp:sp>
    <dsp:sp modelId="{72B99C5C-57F9-644B-9B8C-925FE9664DD0}">
      <dsp:nvSpPr>
        <dsp:cNvPr id="0" name=""/>
        <dsp:cNvSpPr/>
      </dsp:nvSpPr>
      <dsp:spPr>
        <a:xfrm>
          <a:off x="749145" y="6"/>
          <a:ext cx="574806" cy="5748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06" tIns="22306" rIns="22306" bIns="22306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1</a:t>
          </a:r>
        </a:p>
      </dsp:txBody>
      <dsp:txXfrm>
        <a:off x="833323" y="84184"/>
        <a:ext cx="406450" cy="406450"/>
      </dsp:txXfrm>
    </dsp:sp>
    <dsp:sp modelId="{145D5D67-3A43-534B-B99F-0F2886636119}">
      <dsp:nvSpPr>
        <dsp:cNvPr id="0" name=""/>
        <dsp:cNvSpPr/>
      </dsp:nvSpPr>
      <dsp:spPr>
        <a:xfrm>
          <a:off x="1036512" y="646810"/>
          <a:ext cx="72" cy="34826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1518D3-A154-044E-8D20-58E846D5BC59}">
      <dsp:nvSpPr>
        <dsp:cNvPr id="0" name=""/>
        <dsp:cNvSpPr/>
      </dsp:nvSpPr>
      <dsp:spPr>
        <a:xfrm>
          <a:off x="103654" y="995086"/>
          <a:ext cx="1865787" cy="10976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10" tIns="165100" rIns="32910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LUCJ Ansatz</a:t>
          </a:r>
        </a:p>
      </dsp:txBody>
      <dsp:txXfrm>
        <a:off x="135804" y="1027236"/>
        <a:ext cx="1801487" cy="1033365"/>
      </dsp:txXfrm>
    </dsp:sp>
    <dsp:sp modelId="{74E5B48B-4315-0045-88AF-9A4D51AA6F5D}">
      <dsp:nvSpPr>
        <dsp:cNvPr id="0" name=""/>
        <dsp:cNvSpPr/>
      </dsp:nvSpPr>
      <dsp:spPr>
        <a:xfrm>
          <a:off x="2073097" y="287367"/>
          <a:ext cx="1865787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D8B062-3ACC-8B44-89CB-08E9858DE891}">
      <dsp:nvSpPr>
        <dsp:cNvPr id="0" name=""/>
        <dsp:cNvSpPr/>
      </dsp:nvSpPr>
      <dsp:spPr>
        <a:xfrm>
          <a:off x="3876691" y="202821"/>
          <a:ext cx="95362" cy="179115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910" tIns="165100" rIns="32910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Bitstrings</a:t>
          </a:r>
        </a:p>
      </dsp:txBody>
      <dsp:txXfrm>
        <a:off x="2208902" y="1027236"/>
        <a:ext cx="1801487" cy="1033365"/>
      </dsp:txXfrm>
    </dsp:sp>
    <dsp:sp modelId="{515007E4-0104-0A46-A667-4CE80D2EE2D1}">
      <dsp:nvSpPr>
        <dsp:cNvPr id="0" name=""/>
        <dsp:cNvSpPr/>
      </dsp:nvSpPr>
      <dsp:spPr>
        <a:xfrm>
          <a:off x="2822242" y="0"/>
          <a:ext cx="574806" cy="5748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06" tIns="22306" rIns="22306" bIns="22306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2</a:t>
          </a:r>
        </a:p>
      </dsp:txBody>
      <dsp:txXfrm>
        <a:off x="2906420" y="84178"/>
        <a:ext cx="406450" cy="406450"/>
      </dsp:txXfrm>
    </dsp:sp>
    <dsp:sp modelId="{B969A617-37E7-3248-97D8-948BDE5D7050}">
      <dsp:nvSpPr>
        <dsp:cNvPr id="0" name=""/>
        <dsp:cNvSpPr/>
      </dsp:nvSpPr>
      <dsp:spPr>
        <a:xfrm>
          <a:off x="3109609" y="646806"/>
          <a:ext cx="72" cy="3482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15099F-5FC4-D34B-8BB2-394A4BFFBDA4}">
      <dsp:nvSpPr>
        <dsp:cNvPr id="0" name=""/>
        <dsp:cNvSpPr/>
      </dsp:nvSpPr>
      <dsp:spPr>
        <a:xfrm>
          <a:off x="2176752" y="995086"/>
          <a:ext cx="1865787" cy="10976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10" tIns="165100" rIns="32910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Bitstrings</a:t>
          </a:r>
        </a:p>
      </dsp:txBody>
      <dsp:txXfrm>
        <a:off x="2208902" y="1027236"/>
        <a:ext cx="1801487" cy="1033365"/>
      </dsp:txXfrm>
    </dsp:sp>
    <dsp:sp modelId="{0223962F-4C63-FB48-A687-F2CF209A76FE}">
      <dsp:nvSpPr>
        <dsp:cNvPr id="0" name=""/>
        <dsp:cNvSpPr/>
      </dsp:nvSpPr>
      <dsp:spPr>
        <a:xfrm>
          <a:off x="4146194" y="287367"/>
          <a:ext cx="1865787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8BB5D-B1E9-064A-9C5C-986CFA2E301C}">
      <dsp:nvSpPr>
        <dsp:cNvPr id="0" name=""/>
        <dsp:cNvSpPr/>
      </dsp:nvSpPr>
      <dsp:spPr>
        <a:xfrm>
          <a:off x="5949789" y="202820"/>
          <a:ext cx="95362" cy="179115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910" tIns="165100" rIns="32910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Selected Subspace</a:t>
          </a:r>
        </a:p>
      </dsp:txBody>
      <dsp:txXfrm>
        <a:off x="4281999" y="1027236"/>
        <a:ext cx="1801487" cy="1033365"/>
      </dsp:txXfrm>
    </dsp:sp>
    <dsp:sp modelId="{A32AB760-DBB7-5F47-8185-25CA97285678}">
      <dsp:nvSpPr>
        <dsp:cNvPr id="0" name=""/>
        <dsp:cNvSpPr/>
      </dsp:nvSpPr>
      <dsp:spPr>
        <a:xfrm>
          <a:off x="4895339" y="0"/>
          <a:ext cx="574806" cy="5748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06" tIns="22306" rIns="22306" bIns="22306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3</a:t>
          </a:r>
        </a:p>
      </dsp:txBody>
      <dsp:txXfrm>
        <a:off x="4979517" y="84178"/>
        <a:ext cx="406450" cy="406450"/>
      </dsp:txXfrm>
    </dsp:sp>
    <dsp:sp modelId="{7EC3B07D-4668-0C4A-AB5F-0A62BC362162}">
      <dsp:nvSpPr>
        <dsp:cNvPr id="0" name=""/>
        <dsp:cNvSpPr/>
      </dsp:nvSpPr>
      <dsp:spPr>
        <a:xfrm>
          <a:off x="5182707" y="646806"/>
          <a:ext cx="72" cy="3482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FE37F7-D918-3042-A5A6-8F055E6766C1}">
      <dsp:nvSpPr>
        <dsp:cNvPr id="0" name=""/>
        <dsp:cNvSpPr/>
      </dsp:nvSpPr>
      <dsp:spPr>
        <a:xfrm>
          <a:off x="4249849" y="995086"/>
          <a:ext cx="1865787" cy="10976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10" tIns="165100" rIns="32910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Selected Subspace</a:t>
          </a:r>
        </a:p>
      </dsp:txBody>
      <dsp:txXfrm>
        <a:off x="4281999" y="1027236"/>
        <a:ext cx="1801487" cy="1033365"/>
      </dsp:txXfrm>
    </dsp:sp>
    <dsp:sp modelId="{F7E9CD16-E99E-2741-8A2C-B1BB16106608}">
      <dsp:nvSpPr>
        <dsp:cNvPr id="0" name=""/>
        <dsp:cNvSpPr/>
      </dsp:nvSpPr>
      <dsp:spPr>
        <a:xfrm>
          <a:off x="6219291" y="287367"/>
          <a:ext cx="1036548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0ED356-7F8A-0B4C-8D75-D8ECB22F2F0D}">
      <dsp:nvSpPr>
        <dsp:cNvPr id="0" name=""/>
        <dsp:cNvSpPr/>
      </dsp:nvSpPr>
      <dsp:spPr>
        <a:xfrm>
          <a:off x="6968437" y="0"/>
          <a:ext cx="574806" cy="57480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306" tIns="22306" rIns="22306" bIns="22306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4</a:t>
          </a:r>
        </a:p>
      </dsp:txBody>
      <dsp:txXfrm>
        <a:off x="7052615" y="84178"/>
        <a:ext cx="406450" cy="406450"/>
      </dsp:txXfrm>
    </dsp:sp>
    <dsp:sp modelId="{ECDFC78D-03EB-8042-B4E8-8F84D9895F1F}">
      <dsp:nvSpPr>
        <dsp:cNvPr id="0" name=""/>
        <dsp:cNvSpPr/>
      </dsp:nvSpPr>
      <dsp:spPr>
        <a:xfrm>
          <a:off x="7255804" y="646806"/>
          <a:ext cx="72" cy="3482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A11DE9-1897-954F-ADE9-AE428A65D7A3}">
      <dsp:nvSpPr>
        <dsp:cNvPr id="0" name=""/>
        <dsp:cNvSpPr/>
      </dsp:nvSpPr>
      <dsp:spPr>
        <a:xfrm>
          <a:off x="6322946" y="995086"/>
          <a:ext cx="1865787" cy="109766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910" tIns="165100" rIns="32910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SBD/SQD Energy</a:t>
          </a:r>
        </a:p>
      </dsp:txBody>
      <dsp:txXfrm>
        <a:off x="6355096" y="1027236"/>
        <a:ext cx="1801487" cy="10333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86C664-0659-A14E-8A92-1906A97583C4}">
      <dsp:nvSpPr>
        <dsp:cNvPr id="0" name=""/>
        <dsp:cNvSpPr/>
      </dsp:nvSpPr>
      <dsp:spPr>
        <a:xfrm rot="5400000">
          <a:off x="-157528" y="158740"/>
          <a:ext cx="1050189" cy="7351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1</a:t>
          </a:r>
        </a:p>
      </dsp:txBody>
      <dsp:txXfrm rot="-5400000">
        <a:off x="1" y="368777"/>
        <a:ext cx="735132" cy="315057"/>
      </dsp:txXfrm>
    </dsp:sp>
    <dsp:sp modelId="{BE84F43E-FBBF-714D-B92B-DE445F3633E4}">
      <dsp:nvSpPr>
        <dsp:cNvPr id="0" name=""/>
        <dsp:cNvSpPr/>
      </dsp:nvSpPr>
      <dsp:spPr>
        <a:xfrm rot="5400000">
          <a:off x="2354587" y="-1618242"/>
          <a:ext cx="682623" cy="392153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b="0" i="0" u="none" kern="1200"/>
            <a:t>PySCF </a:t>
          </a:r>
          <a:endParaRPr lang="en-GB" sz="2600" kern="1200"/>
        </a:p>
      </dsp:txBody>
      <dsp:txXfrm rot="-5400000">
        <a:off x="735133" y="34535"/>
        <a:ext cx="3888210" cy="615977"/>
      </dsp:txXfrm>
    </dsp:sp>
    <dsp:sp modelId="{08BE5659-0AF6-F046-A97D-0A6807631F12}">
      <dsp:nvSpPr>
        <dsp:cNvPr id="0" name=""/>
        <dsp:cNvSpPr/>
      </dsp:nvSpPr>
      <dsp:spPr>
        <a:xfrm rot="5400000">
          <a:off x="-157528" y="1059054"/>
          <a:ext cx="1050189" cy="7351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2</a:t>
          </a:r>
        </a:p>
      </dsp:txBody>
      <dsp:txXfrm rot="-5400000">
        <a:off x="1" y="1269091"/>
        <a:ext cx="735132" cy="315057"/>
      </dsp:txXfrm>
    </dsp:sp>
    <dsp:sp modelId="{B85ADDD9-A774-BA40-80A1-09D969FA566D}">
      <dsp:nvSpPr>
        <dsp:cNvPr id="0" name=""/>
        <dsp:cNvSpPr/>
      </dsp:nvSpPr>
      <dsp:spPr>
        <a:xfrm rot="5400000">
          <a:off x="2354587" y="-717928"/>
          <a:ext cx="682623" cy="392153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b="0" i="0" u="none" kern="1200"/>
            <a:t>LUCJ Circuit</a:t>
          </a:r>
          <a:endParaRPr lang="en-GB" sz="2600" kern="1200"/>
        </a:p>
      </dsp:txBody>
      <dsp:txXfrm rot="-5400000">
        <a:off x="735133" y="934849"/>
        <a:ext cx="3888210" cy="615977"/>
      </dsp:txXfrm>
    </dsp:sp>
    <dsp:sp modelId="{574CBF92-F6B0-6440-9E14-5130A10C3460}">
      <dsp:nvSpPr>
        <dsp:cNvPr id="0" name=""/>
        <dsp:cNvSpPr/>
      </dsp:nvSpPr>
      <dsp:spPr>
        <a:xfrm rot="5400000">
          <a:off x="-157528" y="1959368"/>
          <a:ext cx="1050189" cy="7351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i="0" u="none" kern="1200"/>
            <a:t>3</a:t>
          </a:r>
          <a:endParaRPr lang="en-GB" sz="2100" b="1" kern="1200"/>
        </a:p>
      </dsp:txBody>
      <dsp:txXfrm rot="-5400000">
        <a:off x="1" y="2169405"/>
        <a:ext cx="735132" cy="315057"/>
      </dsp:txXfrm>
    </dsp:sp>
    <dsp:sp modelId="{BE244658-2B7F-984B-9911-5D3880837487}">
      <dsp:nvSpPr>
        <dsp:cNvPr id="0" name=""/>
        <dsp:cNvSpPr/>
      </dsp:nvSpPr>
      <dsp:spPr>
        <a:xfrm rot="5400000">
          <a:off x="2354587" y="182385"/>
          <a:ext cx="682623" cy="392153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kern="1200"/>
            <a:t>Aer (Qiskit) Sampling</a:t>
          </a:r>
        </a:p>
      </dsp:txBody>
      <dsp:txXfrm rot="-5400000">
        <a:off x="735133" y="1835163"/>
        <a:ext cx="3888210" cy="615977"/>
      </dsp:txXfrm>
    </dsp:sp>
    <dsp:sp modelId="{434EF334-6649-184F-9087-23E54291F4FC}">
      <dsp:nvSpPr>
        <dsp:cNvPr id="0" name=""/>
        <dsp:cNvSpPr/>
      </dsp:nvSpPr>
      <dsp:spPr>
        <a:xfrm rot="5400000">
          <a:off x="-157528" y="2859682"/>
          <a:ext cx="1050189" cy="7351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b="1" kern="1200"/>
            <a:t>4</a:t>
          </a:r>
        </a:p>
      </dsp:txBody>
      <dsp:txXfrm rot="-5400000">
        <a:off x="1" y="3069719"/>
        <a:ext cx="735132" cy="315057"/>
      </dsp:txXfrm>
    </dsp:sp>
    <dsp:sp modelId="{8F907FCC-C2B1-E449-ADDE-8C1126EB14E3}">
      <dsp:nvSpPr>
        <dsp:cNvPr id="0" name=""/>
        <dsp:cNvSpPr/>
      </dsp:nvSpPr>
      <dsp:spPr>
        <a:xfrm rot="5400000">
          <a:off x="2354587" y="1082699"/>
          <a:ext cx="682623" cy="392153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912" tIns="16510" rIns="16510" bIns="1651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600" b="0" i="0" u="none" kern="1200"/>
            <a:t>SBD diagonalisation</a:t>
          </a:r>
          <a:endParaRPr lang="en-GB" sz="2600" kern="1200"/>
        </a:p>
      </dsp:txBody>
      <dsp:txXfrm rot="-5400000">
        <a:off x="735133" y="2735477"/>
        <a:ext cx="3888210" cy="6159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NumberedLinearArrowProcess">
  <dgm:title val=""/>
  <dgm:desc val=""/>
  <dgm:catLst>
    <dgm:cat type="process" pri="17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D625A9F8-2CBE-0F45-BF70-4544598AB94D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229DD0AC-1DA1-8042-ACE1-699104C6E615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C50B23C0-D6E0-ED42-B898-C3EB3433A83F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9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1.7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ctrX" for="ch" forName="nodeText" refType="w" fact="0.5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ctrX" for="ch" forName="nodeText" refType="w" fact="0.5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ifMoreThanOneNode">
                  <dgm:choose name="firstNodeDirChoose">
                    <dgm:if name="firstNodeDirNorm" func="var" arg="dir" op="equ" val="norm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55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87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if>
                    <dgm:else name="firstNodeDirRev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1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084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else>
                  </dgm:choose>
                </dgm:else>
              </dgm:choose>
            </dgm:if>
            <dgm:if name="ifLastNode" axis="self" ptType="node" func="revPos" op="equ" val="1">
              <dgm:choose name="lastNodeDirChoose">
                <dgm:if name="last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lastNodeDirRev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l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if>
            <dgm:else name="allOtherNodes">
              <dgm:choose name="middleNodeDirChoose">
                <dgm:if name="middle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87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middleNodeDirRev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l" for="ch" forName="lineNode" refType="w" fact="0.1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084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else>
          </dgm:choose>
          <dgm:layoutNode name="lineNode" styleLbl="align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Node1">
            <dgm:alg type="sp"/>
            <dgm:choose name="arrowDirChoose">
              <dgm:if name="arrowNorm" func="var" arg="dir" op="equ" val="norm">
                <dgm:shape xmlns:r="http://schemas.openxmlformats.org/officeDocument/2006/relationships" type="chevron" r:blip="">
                  <dgm:adjLst>
                    <dgm:adj idx="1" val="0.9"/>
                  </dgm:adjLst>
                </dgm:shape>
              </dgm:if>
              <dgm:else name="arrowRev">
                <dgm:shape xmlns:r="http://schemas.openxmlformats.org/officeDocument/2006/relationships" rot="180" type="chevron" r:blip="">
                  <dgm:adjLst>
                    <dgm:adj idx="1" val="0.9"/>
                  </dgm:adjLst>
                </dgm:shape>
              </dgm:else>
            </dgm:choose>
            <dgm:presOf axis="self" ptType="node"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  <dgm:layoutNode name="verticalConnector" styleLbl="alignAccFollow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</dgm:forEach>
          <dgm:presOf/>
          <dgm:ruleLst/>
        </dgm:layoutNode>
        <dgm:layoutNode name="nodeText" styleLbl="fgAcc1">
          <dgm:varLst>
            <dgm:bulletEnabled val="1"/>
          </dgm:varLst>
          <dgm:alg type="tx">
            <dgm:param type="parTxLTRAlign" val="ctr"/>
            <dgm:param type="parTxRTLAlign" val="r"/>
            <dgm:param type="txAnchorVert" val="t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secFontSz" val="16"/>
            <dgm:constr type="primFontSz" val="18"/>
            <dgm:constr type="h"/>
            <dgm:constr type="tMarg" val="13"/>
            <dgm:constr type="lMarg" refType="w" fact="0.05"/>
            <dgm:constr type="rMarg" refType="w" fact="0.05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</p:grp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9" y="5878286"/>
            <a:ext cx="4214628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</p:grp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9C64103A-9FD3-F513-9E90-A1B304364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9" y="5878286"/>
            <a:ext cx="4214628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703244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/>
            </a:p>
          </p:txBody>
        </p:sp>
      </p:grp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CD4AF613-EB11-1171-860C-017BDAE2E7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9" y="5878286"/>
            <a:ext cx="4214628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685852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bg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B5FE049A-47F9-2E0B-CC21-DE673FC5BA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9" y="5878286"/>
            <a:ext cx="4214628" cy="740845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88291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bg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02CC33DF-47C8-058E-D0DC-1CD43C8D38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9" y="5878286"/>
            <a:ext cx="4214628" cy="740845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999913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70" y="238869"/>
            <a:ext cx="3872432" cy="2052963"/>
          </a:xfrm>
        </p:spPr>
        <p:txBody>
          <a:bodyPr/>
          <a:lstStyle>
            <a:lvl1pPr>
              <a:defRPr sz="4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255E-14A9-874C-9CC1-29410B2D3300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0" y="238869"/>
            <a:ext cx="4333131" cy="319013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70" y="238869"/>
            <a:ext cx="3872432" cy="2052963"/>
          </a:xfrm>
        </p:spPr>
        <p:txBody>
          <a:bodyPr/>
          <a:lstStyle>
            <a:lvl1pPr>
              <a:defRPr sz="4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3A4D-05BD-1044-AB8C-8EAE15F874FD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0" y="238869"/>
            <a:ext cx="4333131" cy="319013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150952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70" y="238869"/>
            <a:ext cx="3872432" cy="2052963"/>
          </a:xfrm>
        </p:spPr>
        <p:txBody>
          <a:bodyPr/>
          <a:lstStyle>
            <a:lvl1pPr>
              <a:defRPr sz="4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3314-F6B1-DD44-B51E-3EAA717A0BE1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0" y="238869"/>
            <a:ext cx="4333131" cy="319013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40772560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70" y="238869"/>
            <a:ext cx="3872432" cy="2052963"/>
          </a:xfrm>
        </p:spPr>
        <p:txBody>
          <a:bodyPr/>
          <a:lstStyle>
            <a:lvl1pPr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134DA59-39D8-0142-BA27-9C66B50C303D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0" y="238869"/>
            <a:ext cx="4333131" cy="319013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616FDC-4EF6-FE6B-A595-51684B404AC8}"/>
              </a:ext>
            </a:extLst>
          </p:cNvPr>
          <p:cNvSpPr txBox="1"/>
          <p:nvPr userDrawn="1"/>
        </p:nvSpPr>
        <p:spPr>
          <a:xfrm>
            <a:off x="257707" y="6481859"/>
            <a:ext cx="1063125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703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7128D-79CE-4E4F-9F6E-A90E03B37263}" type="datetime1">
              <a:rPr lang="en-GB" smtClean="0"/>
              <a:t>31/08/2026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7D3A79-6341-1EE6-6AFC-EE21900E0BBD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D0B3-8C5C-4746-8FAC-269B3D884A4D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7D3A79-6341-1EE6-6AFC-EE21900E0BBD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207241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357F3-6F25-F84B-84C9-36100BC58A0B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87D3A79-6341-1EE6-6AFC-EE21900E0BBD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152709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7938" y="1023565"/>
            <a:ext cx="4214629" cy="52752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619" y="1023565"/>
            <a:ext cx="4214629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C638D-C228-0943-9174-1A3ABE61681F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842C27-9FB9-DA58-B30B-32E1F2CC862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7938" y="1023565"/>
            <a:ext cx="4214629" cy="52752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619" y="1023565"/>
            <a:ext cx="4214629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832F5-F83F-E741-B209-AAFB6FBCCFE1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842C27-9FB9-DA58-B30B-32E1F2CC862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147691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7938" y="1023565"/>
            <a:ext cx="4214629" cy="52752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619" y="1023565"/>
            <a:ext cx="4214629" cy="52752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3E302-01FC-4240-808C-7104C7165F04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842C27-9FB9-DA58-B30B-32E1F2CC862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13909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66957-1044-E241-94F0-0ABEC49BA12B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A53975-F3AC-34AF-3C2C-4C631D0C82F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07656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76443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740C6-1518-3E44-946F-206F1992A9E1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A53975-F3AC-34AF-3C2C-4C631D0C82F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07656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76443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763695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3CDF-5F93-A74B-BCCF-096CDE50254E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A53975-F3AC-34AF-3C2C-4C631D0C82F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07656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76443" y="1023567"/>
            <a:ext cx="2728688" cy="5275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116007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D226E-A280-BA4F-872A-B9BBF283320A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A53975-F3AC-34AF-3C2C-4C631D0C82F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2505938"/>
            <a:ext cx="2728688" cy="37928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07656" y="2505938"/>
            <a:ext cx="2728688" cy="3792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76443" y="2505938"/>
            <a:ext cx="2728688" cy="3792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8867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07656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6445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2B0A3-70E9-144E-B370-6AB0348C83D0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A53975-F3AC-34AF-3C2C-4C631D0C82F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2505938"/>
            <a:ext cx="2728688" cy="37928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07656" y="2505938"/>
            <a:ext cx="2728688" cy="3792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76443" y="2505938"/>
            <a:ext cx="2728688" cy="3792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8867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07656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6445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9655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5E7959-A9B4-9E40-ACFD-34FA482D82EF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FA53975-F3AC-34AF-3C2C-4C631D0C82F4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2505938"/>
            <a:ext cx="2728688" cy="37928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07656" y="2505938"/>
            <a:ext cx="2728688" cy="3792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76443" y="2505938"/>
            <a:ext cx="2728688" cy="37928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38867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07656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76445" y="1023564"/>
            <a:ext cx="2728688" cy="13365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81526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2"/>
            <a:ext cx="7488000" cy="6111887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8A713-DFBA-B84D-90D5-FDEEE5486BAD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2"/>
            <a:ext cx="7488000" cy="6111887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4DFF4-4C33-0745-93B1-C481FF489D61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126327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2"/>
            <a:ext cx="7488000" cy="6111887"/>
          </a:xfrm>
        </p:spPr>
        <p:txBody>
          <a:bodyPr/>
          <a:lstStyle>
            <a:lvl1pPr>
              <a:defRPr sz="3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B4FBE-85D1-ED4F-903C-2D63F43ED472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624517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2"/>
            <a:ext cx="7488000" cy="6111887"/>
          </a:xfrm>
        </p:spPr>
        <p:txBody>
          <a:bodyPr/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A3AFF-A88C-934C-AA09-7EFC0324A7DE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74596F-2EBD-6CBD-AC54-20A82DA53AC6}"/>
              </a:ext>
            </a:extLst>
          </p:cNvPr>
          <p:cNvSpPr txBox="1"/>
          <p:nvPr userDrawn="1"/>
        </p:nvSpPr>
        <p:spPr>
          <a:xfrm>
            <a:off x="257707" y="6481859"/>
            <a:ext cx="1063125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703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01BA1-7188-4446-AE66-1F5F62CB9496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696074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A62F-66F5-1D4E-AD3C-43BFF857F5D5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292467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81A60-8C64-C242-8CC6-3C3821E95FF1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251175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6858000" cy="1828406"/>
          </a:xfrm>
        </p:spPr>
        <p:txBody>
          <a:bodyPr anchor="b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858000" cy="1322348"/>
          </a:xfrm>
        </p:spPr>
        <p:txBody>
          <a:bodyPr/>
          <a:lstStyle>
            <a:lvl1pPr marL="0" indent="0" algn="l">
              <a:buNone/>
              <a:defRPr sz="34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CB4FFCF-93D4-4E4C-91C0-596408A52D83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59E23-9CD4-0F83-2AD5-01FC923AB86F}"/>
              </a:ext>
            </a:extLst>
          </p:cNvPr>
          <p:cNvSpPr txBox="1"/>
          <p:nvPr userDrawn="1"/>
        </p:nvSpPr>
        <p:spPr>
          <a:xfrm>
            <a:off x="257707" y="6481859"/>
            <a:ext cx="1063125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703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4213697" cy="2816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1A905-9C44-D34B-BE0B-A1CCDF6B20A3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4214149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4214629" cy="52752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3F21B178-EE4F-4743-F66C-864EFA56B6D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91063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4213697" cy="2816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99A0A-DAB9-5D41-8CA1-283F304B4040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4214149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4214629" cy="52752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3F21B178-EE4F-4743-F66C-864EFA56B6D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91063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90703244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4213697" cy="2816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D11C-C422-644A-BFF2-85061405BBC4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4214149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4214629" cy="52752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3F21B178-EE4F-4743-F66C-864EFA56B6D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91063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813155556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Two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2695781" cy="2816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21F07-F072-7043-A5FD-96401B49DCD4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2695781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2695781" cy="52752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07093" y="238869"/>
            <a:ext cx="5699154" cy="2997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06910" y="3301779"/>
            <a:ext cx="5699154" cy="2997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Two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2695781" cy="2816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00CBA-263B-2943-A6BC-1F57F4DD3647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2695781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2695781" cy="52752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07093" y="238869"/>
            <a:ext cx="5699154" cy="2997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06910" y="3301779"/>
            <a:ext cx="5699154" cy="2997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73686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Two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2695781" cy="2816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414F5-F27D-454A-A402-851A992AD87E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2695781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2695781" cy="52752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07093" y="238869"/>
            <a:ext cx="5699154" cy="2997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206910" y="3301779"/>
            <a:ext cx="5699154" cy="2997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61766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Six Imag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2695781" cy="2816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662B4-AA4C-A646-93CD-4FB3FB764F5C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2695781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2695781" cy="52752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07094" y="238869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1497" y="238869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AE11EAB9-5B6A-D02A-3A83-69839EDFA1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07094" y="2281657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9A300816-7305-9DE9-5A0B-FFC71B5288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1497" y="2281657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6CB6590A-9F89-2AAC-FEBF-82282583FD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07094" y="4324445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ADF26534-5850-4C7E-5C54-570EA64C0B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1497" y="4324445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34865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Six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2695781" cy="2816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30535-0B30-E747-88CD-EA2E9B587750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2695781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2695781" cy="52752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07094" y="238869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1497" y="238869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AE11EAB9-5B6A-D02A-3A83-69839EDFA1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07094" y="2281657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9A300816-7305-9DE9-5A0B-FFC71B5288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1497" y="2281657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6CB6590A-9F89-2AAC-FEBF-82282583FD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07094" y="4324445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ADF26534-5850-4C7E-5C54-570EA64C0B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1497" y="4324445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44140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Six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FFE24-2761-C53C-DB8F-34361F85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2695781" cy="2816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89C21-0305-E348-AB31-62D0495B4E70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CE3419-DE5E-44E4-AE38-C6AA7D851F49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2695781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6"/>
            <a:ext cx="2695781" cy="52752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207094" y="238869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1497" y="238869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AE11EAB9-5B6A-D02A-3A83-69839EDFA14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07094" y="2281657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9A300816-7305-9DE9-5A0B-FFC71B5288F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1497" y="2281657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6CB6590A-9F89-2AAC-FEBF-82282583FD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07094" y="4324445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ADF26534-5850-4C7E-5C54-570EA64C0B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1497" y="4324445"/>
            <a:ext cx="2814750" cy="19743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35916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4F551-0852-7847-A7DE-D51AEA4416FC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238869"/>
            <a:ext cx="4214629" cy="605991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4E7C98BF-939A-EF48-0118-5E7B32F3A04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91063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006EA-57DD-8E44-B0C5-F29E81635548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238869"/>
            <a:ext cx="4214629" cy="605991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4E7C98BF-939A-EF48-0118-5E7B32F3A04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91063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85163278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38D4-76E8-F84A-8466-C352917F6738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238869"/>
            <a:ext cx="4214629" cy="605991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4E7C98BF-939A-EF48-0118-5E7B32F3A04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691063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520186088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5266-9894-B74B-BF3F-A25DC720E074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1619" y="238869"/>
            <a:ext cx="4214629" cy="605991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E0E4502-E062-47BA-15B0-9E800A85653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37570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1659B-E0D8-3B4A-AD1C-C67DDE78D13E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1619" y="238869"/>
            <a:ext cx="4214629" cy="605991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E0E4502-E062-47BA-15B0-9E800A85653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37570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497417614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AE707D-4748-A143-92C2-4797D5DB00AC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1619" y="238869"/>
            <a:ext cx="4214629" cy="605991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0E0E4502-E062-47BA-15B0-9E800A85653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37570" y="238125"/>
            <a:ext cx="4214812" cy="43164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674719720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735B-1059-FE49-AA1B-6C78BF60B8E1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8869" y="238869"/>
            <a:ext cx="8667378" cy="605991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1E176-A8B2-7B4C-B93E-DB129899F368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8869" y="238869"/>
            <a:ext cx="8667378" cy="605991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02315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27415-6B48-FF48-82CB-4D7BA88282D2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8869" y="238869"/>
            <a:ext cx="8667378" cy="605991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73389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9145117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CA993338-E59A-ABD4-1500-DF719F4D00F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8667378" cy="956459"/>
            <a:chOff x="0" y="2620"/>
            <a:chExt cx="8192" cy="904"/>
          </a:xfrm>
          <a:solidFill>
            <a:schemeClr val="accent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C754D1-10F2-389A-E83C-A808EC4090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C9DC3D0-9577-47E6-5C51-7E7E34A3C7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B2BF7D7-F996-AA40-BCB7-78D674436B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69BD4D9C-97BA-B80D-BA52-13BB287AF3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A5A2EEB-C815-1664-D6D2-B296F024A7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83C937E8-CE6D-8AC3-B9A8-1B61D670AF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D9FD2CD-EE9C-E849-FE7A-8FF6546C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2AE61A1-3E54-F01B-3B46-4FB720A35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8999050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CA993338-E59A-ABD4-1500-DF719F4D00F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8667378" cy="956459"/>
            <a:chOff x="0" y="2620"/>
            <a:chExt cx="8192" cy="904"/>
          </a:xfrm>
          <a:solidFill>
            <a:schemeClr val="accent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C754D1-10F2-389A-E83C-A808EC4090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C9DC3D0-9577-47E6-5C51-7E7E34A3C7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B2BF7D7-F996-AA40-BCB7-78D674436B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69BD4D9C-97BA-B80D-BA52-13BB287AF3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A5A2EEB-C815-1664-D6D2-B296F024A7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83C937E8-CE6D-8AC3-B9A8-1B61D670AF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D9FD2CD-EE9C-E849-FE7A-8FF6546C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2AE61A1-3E54-F01B-3B46-4FB720A35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5397036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CA993338-E59A-ABD4-1500-DF719F4D00F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8667378" cy="956459"/>
            <a:chOff x="0" y="2620"/>
            <a:chExt cx="8192" cy="904"/>
          </a:xfrm>
          <a:solidFill>
            <a:schemeClr val="accent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C754D1-10F2-389A-E83C-A808EC4090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C9DC3D0-9577-47E6-5C51-7E7E34A3C7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B2BF7D7-F996-AA40-BCB7-78D674436B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69BD4D9C-97BA-B80D-BA52-13BB287AF3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A5A2EEB-C815-1664-D6D2-B296F024A7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83C937E8-CE6D-8AC3-B9A8-1B61D670AF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D9FD2CD-EE9C-E849-FE7A-8FF6546C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2AE61A1-3E54-F01B-3B46-4FB720A35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5701700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CA993338-E59A-ABD4-1500-DF719F4D00F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8667378" cy="956459"/>
            <a:chOff x="0" y="2620"/>
            <a:chExt cx="8192" cy="904"/>
          </a:xfrm>
          <a:solidFill>
            <a:schemeClr val="bg1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C754D1-10F2-389A-E83C-A808EC4090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C9DC3D0-9577-47E6-5C51-7E7E34A3C7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B2BF7D7-F996-AA40-BCB7-78D674436B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69BD4D9C-97BA-B80D-BA52-13BB287AF3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A5A2EEB-C815-1664-D6D2-B296F024A7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83C937E8-CE6D-8AC3-B9A8-1B61D670AF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D9FD2CD-EE9C-E849-FE7A-8FF6546C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2AE61A1-3E54-F01B-3B46-4FB720A35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CA993338-E59A-ABD4-1500-DF719F4D00F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8667374" cy="956459"/>
            <a:chOff x="0" y="2620"/>
            <a:chExt cx="8192" cy="904"/>
          </a:xfrm>
          <a:solidFill>
            <a:schemeClr val="bg2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DDC754D1-10F2-389A-E83C-A808EC4090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6C9DC3D0-9577-47E6-5C51-7E7E34A3C7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B2BF7D7-F996-AA40-BCB7-78D674436B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69BD4D9C-97BA-B80D-BA52-13BB287AF3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FA5A2EEB-C815-1664-D6D2-B296F024A7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83C937E8-CE6D-8AC3-B9A8-1B61D670AF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DD9FD2CD-EE9C-E849-FE7A-8FF6546C1B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52AE61A1-3E54-F01B-3B46-4FB720A35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6125896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3338719"/>
            <a:ext cx="6858000" cy="1828406"/>
          </a:xfrm>
        </p:spPr>
        <p:txBody>
          <a:bodyPr anchor="t"/>
          <a:lstStyle>
            <a:lvl1pPr algn="l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</p:grp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FCDED7B9-B3D0-DAA4-94D0-AA6CFD8B72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9" y="5878286"/>
            <a:ext cx="4214628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1819100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3338719"/>
            <a:ext cx="6858000" cy="1828406"/>
          </a:xfrm>
        </p:spPr>
        <p:txBody>
          <a:bodyPr anchor="t"/>
          <a:lstStyle>
            <a:lvl1pPr algn="l">
              <a:defRPr sz="48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</p:grp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2D36A3EB-E658-654A-4D41-9467F80C93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9" y="5878286"/>
            <a:ext cx="4214628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478046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3338719"/>
            <a:ext cx="6858000" cy="1828406"/>
          </a:xfrm>
        </p:spPr>
        <p:txBody>
          <a:bodyPr anchor="t"/>
          <a:lstStyle>
            <a:lvl1pPr algn="l">
              <a:defRPr sz="48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accent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accent1"/>
                </a:solidFill>
              </a:endParaRPr>
            </a:p>
          </p:txBody>
        </p:sp>
      </p:grp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49544C88-1BBF-8E45-1160-6FF96E3D4D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9" y="5878286"/>
            <a:ext cx="4214628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2480219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3338719"/>
            <a:ext cx="6858000" cy="1828406"/>
          </a:xfrm>
        </p:spPr>
        <p:txBody>
          <a:bodyPr anchor="t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F8E8FC79-BA3B-426E-0FA3-260A03B7CCA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238869" y="238869"/>
            <a:ext cx="2888156" cy="318713"/>
            <a:chOff x="0" y="2620"/>
            <a:chExt cx="8192" cy="904"/>
          </a:xfrm>
          <a:solidFill>
            <a:schemeClr val="bg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FB093595-8DDB-FF9B-E4D6-3A6BB56091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06" y="2620"/>
              <a:ext cx="586" cy="904"/>
            </a:xfrm>
            <a:custGeom>
              <a:avLst/>
              <a:gdLst>
                <a:gd name="T0" fmla="*/ 0 w 586"/>
                <a:gd name="T1" fmla="*/ 0 h 904"/>
                <a:gd name="T2" fmla="*/ 0 w 586"/>
                <a:gd name="T3" fmla="*/ 904 h 904"/>
                <a:gd name="T4" fmla="*/ 586 w 586"/>
                <a:gd name="T5" fmla="*/ 904 h 904"/>
                <a:gd name="T6" fmla="*/ 586 w 586"/>
                <a:gd name="T7" fmla="*/ 746 h 904"/>
                <a:gd name="T8" fmla="*/ 170 w 586"/>
                <a:gd name="T9" fmla="*/ 746 h 904"/>
                <a:gd name="T10" fmla="*/ 170 w 586"/>
                <a:gd name="T11" fmla="*/ 0 h 904"/>
                <a:gd name="T12" fmla="*/ 0 w 586"/>
                <a:gd name="T13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6" h="904">
                  <a:moveTo>
                    <a:pt x="0" y="0"/>
                  </a:moveTo>
                  <a:lnTo>
                    <a:pt x="0" y="904"/>
                  </a:lnTo>
                  <a:lnTo>
                    <a:pt x="586" y="904"/>
                  </a:lnTo>
                  <a:lnTo>
                    <a:pt x="586" y="746"/>
                  </a:lnTo>
                  <a:lnTo>
                    <a:pt x="170" y="746"/>
                  </a:lnTo>
                  <a:lnTo>
                    <a:pt x="17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83443FE2-23A5-AFF9-0FF9-B60B14DB8B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401" y="2620"/>
              <a:ext cx="819" cy="904"/>
            </a:xfrm>
            <a:custGeom>
              <a:avLst/>
              <a:gdLst>
                <a:gd name="T0" fmla="*/ 297 w 819"/>
                <a:gd name="T1" fmla="*/ 0 h 904"/>
                <a:gd name="T2" fmla="*/ 0 w 819"/>
                <a:gd name="T3" fmla="*/ 904 h 904"/>
                <a:gd name="T4" fmla="*/ 180 w 819"/>
                <a:gd name="T5" fmla="*/ 904 h 904"/>
                <a:gd name="T6" fmla="*/ 242 w 819"/>
                <a:gd name="T7" fmla="*/ 705 h 904"/>
                <a:gd name="T8" fmla="*/ 578 w 819"/>
                <a:gd name="T9" fmla="*/ 705 h 904"/>
                <a:gd name="T10" fmla="*/ 639 w 819"/>
                <a:gd name="T11" fmla="*/ 904 h 904"/>
                <a:gd name="T12" fmla="*/ 819 w 819"/>
                <a:gd name="T13" fmla="*/ 904 h 904"/>
                <a:gd name="T14" fmla="*/ 522 w 819"/>
                <a:gd name="T15" fmla="*/ 0 h 904"/>
                <a:gd name="T16" fmla="*/ 297 w 819"/>
                <a:gd name="T17" fmla="*/ 0 h 904"/>
                <a:gd name="T18" fmla="*/ 410 w 819"/>
                <a:gd name="T19" fmla="*/ 161 h 904"/>
                <a:gd name="T20" fmla="*/ 532 w 819"/>
                <a:gd name="T21" fmla="*/ 559 h 904"/>
                <a:gd name="T22" fmla="*/ 286 w 819"/>
                <a:gd name="T23" fmla="*/ 559 h 904"/>
                <a:gd name="T24" fmla="*/ 410 w 819"/>
                <a:gd name="T25" fmla="*/ 161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19" h="904">
                  <a:moveTo>
                    <a:pt x="297" y="0"/>
                  </a:moveTo>
                  <a:lnTo>
                    <a:pt x="0" y="904"/>
                  </a:lnTo>
                  <a:lnTo>
                    <a:pt x="180" y="904"/>
                  </a:lnTo>
                  <a:lnTo>
                    <a:pt x="242" y="705"/>
                  </a:lnTo>
                  <a:lnTo>
                    <a:pt x="578" y="705"/>
                  </a:lnTo>
                  <a:lnTo>
                    <a:pt x="639" y="904"/>
                  </a:lnTo>
                  <a:lnTo>
                    <a:pt x="819" y="904"/>
                  </a:lnTo>
                  <a:lnTo>
                    <a:pt x="522" y="0"/>
                  </a:lnTo>
                  <a:lnTo>
                    <a:pt x="297" y="0"/>
                  </a:lnTo>
                  <a:close/>
                  <a:moveTo>
                    <a:pt x="410" y="161"/>
                  </a:moveTo>
                  <a:lnTo>
                    <a:pt x="532" y="559"/>
                  </a:lnTo>
                  <a:lnTo>
                    <a:pt x="286" y="559"/>
                  </a:lnTo>
                  <a:lnTo>
                    <a:pt x="410" y="1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1B6C2AF2-79FE-8173-D5BE-A7157CC912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67" y="2620"/>
              <a:ext cx="593" cy="904"/>
            </a:xfrm>
            <a:custGeom>
              <a:avLst/>
              <a:gdLst>
                <a:gd name="T0" fmla="*/ 0 w 593"/>
                <a:gd name="T1" fmla="*/ 0 h 904"/>
                <a:gd name="T2" fmla="*/ 0 w 593"/>
                <a:gd name="T3" fmla="*/ 158 h 904"/>
                <a:gd name="T4" fmla="*/ 211 w 593"/>
                <a:gd name="T5" fmla="*/ 158 h 904"/>
                <a:gd name="T6" fmla="*/ 211 w 593"/>
                <a:gd name="T7" fmla="*/ 746 h 904"/>
                <a:gd name="T8" fmla="*/ 0 w 593"/>
                <a:gd name="T9" fmla="*/ 746 h 904"/>
                <a:gd name="T10" fmla="*/ 0 w 593"/>
                <a:gd name="T11" fmla="*/ 904 h 904"/>
                <a:gd name="T12" fmla="*/ 593 w 593"/>
                <a:gd name="T13" fmla="*/ 904 h 904"/>
                <a:gd name="T14" fmla="*/ 593 w 593"/>
                <a:gd name="T15" fmla="*/ 746 h 904"/>
                <a:gd name="T16" fmla="*/ 382 w 593"/>
                <a:gd name="T17" fmla="*/ 746 h 904"/>
                <a:gd name="T18" fmla="*/ 382 w 593"/>
                <a:gd name="T19" fmla="*/ 158 h 904"/>
                <a:gd name="T20" fmla="*/ 593 w 593"/>
                <a:gd name="T21" fmla="*/ 158 h 904"/>
                <a:gd name="T22" fmla="*/ 593 w 593"/>
                <a:gd name="T23" fmla="*/ 0 h 904"/>
                <a:gd name="T24" fmla="*/ 0 w 593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3" h="904">
                  <a:moveTo>
                    <a:pt x="0" y="0"/>
                  </a:moveTo>
                  <a:lnTo>
                    <a:pt x="0" y="158"/>
                  </a:lnTo>
                  <a:lnTo>
                    <a:pt x="211" y="158"/>
                  </a:lnTo>
                  <a:lnTo>
                    <a:pt x="211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3" y="904"/>
                  </a:lnTo>
                  <a:lnTo>
                    <a:pt x="593" y="746"/>
                  </a:lnTo>
                  <a:lnTo>
                    <a:pt x="382" y="746"/>
                  </a:lnTo>
                  <a:lnTo>
                    <a:pt x="382" y="158"/>
                  </a:lnTo>
                  <a:lnTo>
                    <a:pt x="593" y="158"/>
                  </a:lnTo>
                  <a:lnTo>
                    <a:pt x="59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E523396-F02D-E47F-45A0-AE81C59E235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07" y="2620"/>
              <a:ext cx="702" cy="90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0EBBEAF6-2B13-2D57-70A9-B7AABA7667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97" y="2620"/>
              <a:ext cx="585" cy="904"/>
            </a:xfrm>
            <a:custGeom>
              <a:avLst/>
              <a:gdLst>
                <a:gd name="T0" fmla="*/ 0 w 585"/>
                <a:gd name="T1" fmla="*/ 0 h 904"/>
                <a:gd name="T2" fmla="*/ 0 w 585"/>
                <a:gd name="T3" fmla="*/ 904 h 904"/>
                <a:gd name="T4" fmla="*/ 585 w 585"/>
                <a:gd name="T5" fmla="*/ 904 h 904"/>
                <a:gd name="T6" fmla="*/ 585 w 585"/>
                <a:gd name="T7" fmla="*/ 746 h 904"/>
                <a:gd name="T8" fmla="*/ 171 w 585"/>
                <a:gd name="T9" fmla="*/ 746 h 904"/>
                <a:gd name="T10" fmla="*/ 171 w 585"/>
                <a:gd name="T11" fmla="*/ 519 h 904"/>
                <a:gd name="T12" fmla="*/ 549 w 585"/>
                <a:gd name="T13" fmla="*/ 519 h 904"/>
                <a:gd name="T14" fmla="*/ 549 w 585"/>
                <a:gd name="T15" fmla="*/ 366 h 904"/>
                <a:gd name="T16" fmla="*/ 171 w 585"/>
                <a:gd name="T17" fmla="*/ 366 h 904"/>
                <a:gd name="T18" fmla="*/ 171 w 585"/>
                <a:gd name="T19" fmla="*/ 158 h 904"/>
                <a:gd name="T20" fmla="*/ 585 w 585"/>
                <a:gd name="T21" fmla="*/ 158 h 904"/>
                <a:gd name="T22" fmla="*/ 585 w 585"/>
                <a:gd name="T23" fmla="*/ 0 h 904"/>
                <a:gd name="T24" fmla="*/ 0 w 585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85" h="904">
                  <a:moveTo>
                    <a:pt x="0" y="0"/>
                  </a:moveTo>
                  <a:lnTo>
                    <a:pt x="0" y="904"/>
                  </a:lnTo>
                  <a:lnTo>
                    <a:pt x="585" y="904"/>
                  </a:lnTo>
                  <a:lnTo>
                    <a:pt x="585" y="746"/>
                  </a:lnTo>
                  <a:lnTo>
                    <a:pt x="171" y="746"/>
                  </a:lnTo>
                  <a:lnTo>
                    <a:pt x="171" y="519"/>
                  </a:lnTo>
                  <a:lnTo>
                    <a:pt x="549" y="519"/>
                  </a:lnTo>
                  <a:lnTo>
                    <a:pt x="549" y="366"/>
                  </a:lnTo>
                  <a:lnTo>
                    <a:pt x="171" y="366"/>
                  </a:lnTo>
                  <a:lnTo>
                    <a:pt x="171" y="158"/>
                  </a:lnTo>
                  <a:lnTo>
                    <a:pt x="585" y="158"/>
                  </a:lnTo>
                  <a:lnTo>
                    <a:pt x="58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20779A94-3801-CD42-EF9F-9C8C0F0AA8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90" y="2620"/>
              <a:ext cx="648" cy="90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9454F63-77C7-59AA-73F3-B57BF56F7A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37" y="2620"/>
              <a:ext cx="918" cy="904"/>
            </a:xfrm>
            <a:custGeom>
              <a:avLst/>
              <a:gdLst>
                <a:gd name="T0" fmla="*/ 675 w 918"/>
                <a:gd name="T1" fmla="*/ 0 h 904"/>
                <a:gd name="T2" fmla="*/ 459 w 918"/>
                <a:gd name="T3" fmla="*/ 532 h 904"/>
                <a:gd name="T4" fmla="*/ 243 w 918"/>
                <a:gd name="T5" fmla="*/ 0 h 904"/>
                <a:gd name="T6" fmla="*/ 0 w 918"/>
                <a:gd name="T7" fmla="*/ 0 h 904"/>
                <a:gd name="T8" fmla="*/ 0 w 918"/>
                <a:gd name="T9" fmla="*/ 904 h 904"/>
                <a:gd name="T10" fmla="*/ 162 w 918"/>
                <a:gd name="T11" fmla="*/ 904 h 904"/>
                <a:gd name="T12" fmla="*/ 162 w 918"/>
                <a:gd name="T13" fmla="*/ 228 h 904"/>
                <a:gd name="T14" fmla="*/ 369 w 918"/>
                <a:gd name="T15" fmla="*/ 705 h 904"/>
                <a:gd name="T16" fmla="*/ 378 w 918"/>
                <a:gd name="T17" fmla="*/ 705 h 904"/>
                <a:gd name="T18" fmla="*/ 540 w 918"/>
                <a:gd name="T19" fmla="*/ 705 h 904"/>
                <a:gd name="T20" fmla="*/ 549 w 918"/>
                <a:gd name="T21" fmla="*/ 705 h 904"/>
                <a:gd name="T22" fmla="*/ 756 w 918"/>
                <a:gd name="T23" fmla="*/ 228 h 904"/>
                <a:gd name="T24" fmla="*/ 756 w 918"/>
                <a:gd name="T25" fmla="*/ 904 h 904"/>
                <a:gd name="T26" fmla="*/ 918 w 918"/>
                <a:gd name="T27" fmla="*/ 904 h 904"/>
                <a:gd name="T28" fmla="*/ 918 w 918"/>
                <a:gd name="T29" fmla="*/ 0 h 904"/>
                <a:gd name="T30" fmla="*/ 675 w 918"/>
                <a:gd name="T31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18" h="904">
                  <a:moveTo>
                    <a:pt x="675" y="0"/>
                  </a:moveTo>
                  <a:lnTo>
                    <a:pt x="459" y="532"/>
                  </a:lnTo>
                  <a:lnTo>
                    <a:pt x="243" y="0"/>
                  </a:lnTo>
                  <a:lnTo>
                    <a:pt x="0" y="0"/>
                  </a:lnTo>
                  <a:lnTo>
                    <a:pt x="0" y="904"/>
                  </a:lnTo>
                  <a:lnTo>
                    <a:pt x="162" y="904"/>
                  </a:lnTo>
                  <a:lnTo>
                    <a:pt x="162" y="228"/>
                  </a:lnTo>
                  <a:lnTo>
                    <a:pt x="369" y="705"/>
                  </a:lnTo>
                  <a:lnTo>
                    <a:pt x="378" y="705"/>
                  </a:lnTo>
                  <a:lnTo>
                    <a:pt x="540" y="705"/>
                  </a:lnTo>
                  <a:lnTo>
                    <a:pt x="549" y="705"/>
                  </a:lnTo>
                  <a:lnTo>
                    <a:pt x="756" y="228"/>
                  </a:lnTo>
                  <a:lnTo>
                    <a:pt x="756" y="904"/>
                  </a:lnTo>
                  <a:lnTo>
                    <a:pt x="918" y="904"/>
                  </a:lnTo>
                  <a:lnTo>
                    <a:pt x="918" y="0"/>
                  </a:lnTo>
                  <a:lnTo>
                    <a:pt x="67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4A3295FF-D597-B2FF-1F99-302CFC3B83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2620"/>
              <a:ext cx="594" cy="904"/>
            </a:xfrm>
            <a:custGeom>
              <a:avLst/>
              <a:gdLst>
                <a:gd name="T0" fmla="*/ 0 w 594"/>
                <a:gd name="T1" fmla="*/ 0 h 904"/>
                <a:gd name="T2" fmla="*/ 0 w 594"/>
                <a:gd name="T3" fmla="*/ 158 h 904"/>
                <a:gd name="T4" fmla="*/ 212 w 594"/>
                <a:gd name="T5" fmla="*/ 158 h 904"/>
                <a:gd name="T6" fmla="*/ 212 w 594"/>
                <a:gd name="T7" fmla="*/ 746 h 904"/>
                <a:gd name="T8" fmla="*/ 0 w 594"/>
                <a:gd name="T9" fmla="*/ 746 h 904"/>
                <a:gd name="T10" fmla="*/ 0 w 594"/>
                <a:gd name="T11" fmla="*/ 904 h 904"/>
                <a:gd name="T12" fmla="*/ 594 w 594"/>
                <a:gd name="T13" fmla="*/ 904 h 904"/>
                <a:gd name="T14" fmla="*/ 594 w 594"/>
                <a:gd name="T15" fmla="*/ 746 h 904"/>
                <a:gd name="T16" fmla="*/ 383 w 594"/>
                <a:gd name="T17" fmla="*/ 746 h 904"/>
                <a:gd name="T18" fmla="*/ 383 w 594"/>
                <a:gd name="T19" fmla="*/ 158 h 904"/>
                <a:gd name="T20" fmla="*/ 594 w 594"/>
                <a:gd name="T21" fmla="*/ 158 h 904"/>
                <a:gd name="T22" fmla="*/ 594 w 594"/>
                <a:gd name="T23" fmla="*/ 0 h 904"/>
                <a:gd name="T24" fmla="*/ 0 w 594"/>
                <a:gd name="T25" fmla="*/ 0 h 9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4" h="904">
                  <a:moveTo>
                    <a:pt x="0" y="0"/>
                  </a:moveTo>
                  <a:lnTo>
                    <a:pt x="0" y="158"/>
                  </a:lnTo>
                  <a:lnTo>
                    <a:pt x="212" y="158"/>
                  </a:lnTo>
                  <a:lnTo>
                    <a:pt x="212" y="746"/>
                  </a:lnTo>
                  <a:lnTo>
                    <a:pt x="0" y="746"/>
                  </a:lnTo>
                  <a:lnTo>
                    <a:pt x="0" y="904"/>
                  </a:lnTo>
                  <a:lnTo>
                    <a:pt x="594" y="904"/>
                  </a:lnTo>
                  <a:lnTo>
                    <a:pt x="594" y="746"/>
                  </a:lnTo>
                  <a:lnTo>
                    <a:pt x="383" y="746"/>
                  </a:lnTo>
                  <a:lnTo>
                    <a:pt x="383" y="158"/>
                  </a:lnTo>
                  <a:lnTo>
                    <a:pt x="594" y="158"/>
                  </a:lnTo>
                  <a:lnTo>
                    <a:pt x="59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266">
                <a:solidFill>
                  <a:schemeClr val="bg1"/>
                </a:solidFill>
              </a:endParaRPr>
            </a:p>
          </p:txBody>
        </p:sp>
      </p:grp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11BA174D-0123-DF42-5F9D-83AC61DDF1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9" y="5878286"/>
            <a:ext cx="4214628" cy="740845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20ED9-2A6F-514C-9476-754CABE359D4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35468B1-7A85-EDD8-5B99-107B6B0527B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1818251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3B58D-A422-4247-92FD-1332DB83ED84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35468B1-7A85-EDD8-5B99-107B6B0527B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1418207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AA0D9-AE92-8440-8D2E-B35CFFF677CD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35468B1-7A85-EDD8-5B99-107B6B0527B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0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9912678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5266A-98E6-1745-B492-F5B190C6CA22}" type="datetime1">
              <a:rPr lang="en-GB" smtClean="0"/>
              <a:t>31/08/2026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464979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76E32-EF36-134F-B92A-BFE3C5A21452}" type="datetime1">
              <a:rPr lang="en-GB" smtClean="0"/>
              <a:t>31/08/2026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0609558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05C2A-B160-124B-B8BF-37479786D302}" type="datetime1">
              <a:rPr lang="en-GB" smtClean="0"/>
              <a:t>31/08/2026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25240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8667378" cy="28160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869" y="1023567"/>
            <a:ext cx="8667378" cy="527521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48847" y="6481862"/>
            <a:ext cx="2057400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703">
                <a:solidFill>
                  <a:schemeClr val="accent1"/>
                </a:solidFill>
              </a:defRPr>
            </a:lvl1pPr>
          </a:lstStyle>
          <a:p>
            <a:fld id="{9DBE1E2A-AB43-344E-B57A-522B205CAABC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73945" y="6481859"/>
            <a:ext cx="2567589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703">
                <a:solidFill>
                  <a:schemeClr val="accent1"/>
                </a:solidFill>
              </a:defRPr>
            </a:lvl1pPr>
          </a:lstStyle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52566" y="6481859"/>
            <a:ext cx="238868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703" b="0">
                <a:solidFill>
                  <a:schemeClr val="accent1"/>
                </a:solidFill>
                <a:latin typeface="+mj-lt"/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257707" y="6481859"/>
            <a:ext cx="1063125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703" b="0" dirty="0">
                <a:solidFill>
                  <a:schemeClr val="accent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78" r:id="rId2"/>
    <p:sldLayoutId id="2147483679" r:id="rId3"/>
    <p:sldLayoutId id="2147483649" r:id="rId4"/>
    <p:sldLayoutId id="2147483657" r:id="rId5"/>
    <p:sldLayoutId id="2147483658" r:id="rId6"/>
    <p:sldLayoutId id="2147483680" r:id="rId7"/>
    <p:sldLayoutId id="2147483681" r:id="rId8"/>
    <p:sldLayoutId id="2147483675" r:id="rId9"/>
    <p:sldLayoutId id="2147483650" r:id="rId10"/>
    <p:sldLayoutId id="2147483682" r:id="rId11"/>
    <p:sldLayoutId id="2147483683" r:id="rId12"/>
    <p:sldLayoutId id="2147483652" r:id="rId13"/>
    <p:sldLayoutId id="2147483684" r:id="rId14"/>
    <p:sldLayoutId id="2147483685" r:id="rId15"/>
    <p:sldLayoutId id="2147483659" r:id="rId16"/>
    <p:sldLayoutId id="2147483686" r:id="rId17"/>
    <p:sldLayoutId id="2147483687" r:id="rId18"/>
    <p:sldLayoutId id="2147483660" r:id="rId19"/>
    <p:sldLayoutId id="2147483688" r:id="rId20"/>
    <p:sldLayoutId id="2147483689" r:id="rId21"/>
    <p:sldLayoutId id="2147483677" r:id="rId22"/>
    <p:sldLayoutId id="2147483690" r:id="rId23"/>
    <p:sldLayoutId id="2147483691" r:id="rId24"/>
    <p:sldLayoutId id="2147483676" r:id="rId25"/>
    <p:sldLayoutId id="2147483667" r:id="rId26"/>
    <p:sldLayoutId id="2147483692" r:id="rId27"/>
    <p:sldLayoutId id="2147483693" r:id="rId28"/>
    <p:sldLayoutId id="2147483666" r:id="rId29"/>
    <p:sldLayoutId id="2147483661" r:id="rId30"/>
    <p:sldLayoutId id="2147483694" r:id="rId31"/>
    <p:sldLayoutId id="2147483695" r:id="rId32"/>
    <p:sldLayoutId id="2147483669" r:id="rId33"/>
    <p:sldLayoutId id="2147483696" r:id="rId34"/>
    <p:sldLayoutId id="2147483697" r:id="rId35"/>
    <p:sldLayoutId id="2147483668" r:id="rId36"/>
    <p:sldLayoutId id="2147483698" r:id="rId37"/>
    <p:sldLayoutId id="2147483699" r:id="rId38"/>
    <p:sldLayoutId id="2147483662" r:id="rId39"/>
    <p:sldLayoutId id="2147483700" r:id="rId40"/>
    <p:sldLayoutId id="2147483701" r:id="rId41"/>
    <p:sldLayoutId id="2147483663" r:id="rId42"/>
    <p:sldLayoutId id="2147483702" r:id="rId43"/>
    <p:sldLayoutId id="2147483703" r:id="rId44"/>
    <p:sldLayoutId id="2147483664" r:id="rId45"/>
    <p:sldLayoutId id="2147483704" r:id="rId46"/>
    <p:sldLayoutId id="2147483705" r:id="rId47"/>
    <p:sldLayoutId id="2147483665" r:id="rId48"/>
    <p:sldLayoutId id="2147483671" r:id="rId49"/>
    <p:sldLayoutId id="2147483706" r:id="rId50"/>
    <p:sldLayoutId id="2147483707" r:id="rId51"/>
    <p:sldLayoutId id="2147483670" r:id="rId52"/>
    <p:sldLayoutId id="2147483672" r:id="rId53"/>
    <p:sldLayoutId id="2147483674" r:id="rId54"/>
    <p:sldLayoutId id="2147483708" r:id="rId55"/>
    <p:sldLayoutId id="2147483709" r:id="rId56"/>
    <p:sldLayoutId id="2147483673" r:id="rId57"/>
    <p:sldLayoutId id="2147483654" r:id="rId58"/>
    <p:sldLayoutId id="2147483710" r:id="rId59"/>
    <p:sldLayoutId id="2147483711" r:id="rId60"/>
    <p:sldLayoutId id="2147483655" r:id="rId61"/>
    <p:sldLayoutId id="2147483712" r:id="rId62"/>
    <p:sldLayoutId id="2147483713" r:id="rId63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150" userDrawn="1">
          <p15:clr>
            <a:srgbClr val="F26B43"/>
          </p15:clr>
        </p15:guide>
        <p15:guide id="4" pos="5610" userDrawn="1">
          <p15:clr>
            <a:srgbClr val="F26B43"/>
          </p15:clr>
        </p15:guide>
        <p15:guide id="5" orient="horz" pos="150" userDrawn="1">
          <p15:clr>
            <a:srgbClr val="F26B43"/>
          </p15:clr>
        </p15:guide>
        <p15:guide id="6" orient="horz" pos="4170" userDrawn="1">
          <p15:clr>
            <a:srgbClr val="F26B43"/>
          </p15:clr>
        </p15:guide>
        <p15:guide id="7" orient="horz" pos="3968" userDrawn="1">
          <p15:clr>
            <a:srgbClr val="F26B43"/>
          </p15:clr>
        </p15:guide>
        <p15:guide id="8" orient="horz" pos="645" userDrawn="1">
          <p15:clr>
            <a:srgbClr val="F26B43"/>
          </p15:clr>
        </p15:guide>
        <p15:guide id="9" pos="2805" userDrawn="1">
          <p15:clr>
            <a:srgbClr val="F26B43"/>
          </p15:clr>
        </p15:guide>
        <p15:guide id="10" pos="29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ithub.com/solovevmax/sqd-orbital-ordering" TargetMode="External"/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C6C70-3B0C-690C-2FF8-30ECEE796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B5E60-AD83-A7CE-4AC3-0AF557FD3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7938" y="2143125"/>
            <a:ext cx="8340454" cy="1828406"/>
          </a:xfrm>
        </p:spPr>
        <p:txBody>
          <a:bodyPr/>
          <a:lstStyle/>
          <a:p>
            <a:r>
              <a:rPr lang="en-GB"/>
              <a:t>Orbital Ordering in Heavy-Hex LUCJ Sampling for SQD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8A084-C83B-B1BA-F1C8-58ED2C96F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938" y="3978607"/>
            <a:ext cx="6624775" cy="1322348"/>
          </a:xfrm>
        </p:spPr>
        <p:txBody>
          <a:bodyPr/>
          <a:lstStyle/>
          <a:p>
            <a:r>
              <a:rPr lang="en-GB" sz="2800"/>
              <a:t>Research Presentation - RIKEN R-CCS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590196-1683-86F1-9CB4-80E5FB8111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7939" y="5878286"/>
            <a:ext cx="4214628" cy="740845"/>
          </a:xfrm>
        </p:spPr>
        <p:txBody>
          <a:bodyPr/>
          <a:lstStyle/>
          <a:p>
            <a:r>
              <a:rPr lang="en-US"/>
              <a:t>Max Solovev</a:t>
            </a:r>
            <a:endParaRPr lang="en-US" dirty="0"/>
          </a:p>
          <a:p>
            <a:r>
              <a:rPr lang="en-US"/>
              <a:t>03/09/2026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9682F5-5FEC-992B-B6CB-9D9D104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785" y="71145"/>
            <a:ext cx="26924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2668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94C4B-D131-C722-BFFE-CA3F96531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58A54-291A-6C28-2ED4-BEED89F414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BCA897-0B89-D370-A0E4-C3A04042D9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Discussing issues with the LUCJ ansatz and a proposed solution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0FB58-ED25-4CDB-619B-8388CBFDC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1B27-9C9A-AD4F-B470-509B5E6C368C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A3D95-0909-E3A7-174F-4E71E86F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06C70-8E43-8C34-297C-4D0006BDA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938861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26D-AEEE-9CAD-EC6D-58B1E3EBB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issues with the LUCJ ansatz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9243C-26C4-B42B-1D89-75DB3A5CA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1023567"/>
            <a:ext cx="5825765" cy="406690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IBM processors have a fixed heavy-hex qubit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The LUCJ ansatz adapts to this topology in two ways:</a:t>
            </a:r>
          </a:p>
          <a:p>
            <a:pPr marL="2228753" lvl="5" indent="-342900"/>
            <a:r>
              <a:rPr lang="en-GB"/>
              <a:t>Nearest neighbour same-spin Jastrow couplings</a:t>
            </a:r>
          </a:p>
          <a:p>
            <a:pPr marL="2228753" lvl="5" indent="-342900"/>
            <a:r>
              <a:rPr lang="en-GB"/>
              <a:t>Sparse opposite-spin couplings at fixed anchor positions</a:t>
            </a:r>
          </a:p>
          <a:p>
            <a:pPr lvl="1"/>
            <a:endParaRPr lang="en-GB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b="0"/>
              <a:t>The heavy-hex truncation removes a lot of potentially useful orbital couplings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b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b="0"/>
              <a:t>The orbital-to-qubit assignment determines:</a:t>
            </a:r>
          </a:p>
          <a:p>
            <a:pPr marL="2171603" lvl="5" indent="-285750"/>
            <a:r>
              <a:rPr lang="en-GB" b="0"/>
              <a:t>Which same-spin orbital pairs remain coupled</a:t>
            </a:r>
          </a:p>
          <a:p>
            <a:pPr marL="2171603" lvl="5" indent="-285750"/>
            <a:r>
              <a:rPr lang="en-GB"/>
              <a:t>Which orbitals receive the few opposite-spin anchor couplings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DFAD776-A31E-C977-7A73-F870E44ED2E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9597"/>
            <a:ext cx="8668310" cy="371567"/>
          </a:xfrm>
        </p:spPr>
        <p:txBody>
          <a:bodyPr/>
          <a:lstStyle/>
          <a:p>
            <a:r>
              <a:rPr lang="en-US"/>
              <a:t>A brief overview of the problem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2808B-580A-CD49-CD2A-D7F174134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F2B04-CF1B-39C4-E124-D0EE6DA13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CE7C2-9D41-F6F6-A942-18570AA9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F9BD54-C13E-0308-CC22-E87C70CA4F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52"/>
          <a:stretch>
            <a:fillRect/>
          </a:stretch>
        </p:blipFill>
        <p:spPr>
          <a:xfrm>
            <a:off x="6160625" y="218329"/>
            <a:ext cx="2659665" cy="33559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113DD1-08AE-F9FD-8928-E8ED34450DB2}"/>
              </a:ext>
            </a:extLst>
          </p:cNvPr>
          <p:cNvSpPr txBox="1"/>
          <p:nvPr/>
        </p:nvSpPr>
        <p:spPr>
          <a:xfrm>
            <a:off x="237937" y="5316720"/>
            <a:ext cx="8667378" cy="79289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171603" lvl="5" indent="-285750" algn="ctr"/>
            <a:endParaRPr lang="en-GB" b="1"/>
          </a:p>
          <a:p>
            <a:pPr marL="285750" lvl="1" indent="-285750" algn="ctr"/>
            <a:r>
              <a:rPr lang="en-GB" b="1">
                <a:solidFill>
                  <a:srgbClr val="FF0000"/>
                </a:solidFill>
              </a:rPr>
              <a:t>This changes which determinants are sampled and can reduce the accuracy of the SQD energy.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0F01CD-BB96-6C90-A704-4E2EEE09A808}"/>
              </a:ext>
            </a:extLst>
          </p:cNvPr>
          <p:cNvSpPr txBox="1"/>
          <p:nvPr/>
        </p:nvSpPr>
        <p:spPr>
          <a:xfrm>
            <a:off x="6160624" y="3883545"/>
            <a:ext cx="2659665" cy="10840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sz="1600" b="1">
                <a:solidFill>
                  <a:schemeClr val="tx1"/>
                </a:solidFill>
              </a:rPr>
              <a:t>e.g - When N</a:t>
            </a:r>
            <a:r>
              <a:rPr lang="en-US" sz="1600" b="1" baseline="-25000">
                <a:solidFill>
                  <a:schemeClr val="tx1"/>
                </a:solidFill>
              </a:rPr>
              <a:t>orb </a:t>
            </a:r>
            <a:r>
              <a:rPr lang="en-US" sz="1600" b="1">
                <a:solidFill>
                  <a:schemeClr val="tx1"/>
                </a:solidFill>
              </a:rPr>
              <a:t>= 36, only 5.6% of possible same-spin pairs are retained by the heavy-hex mask.</a:t>
            </a:r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904659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72CF-11C3-353A-0C69-F05345741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BE27B-0AA8-81DE-4874-DEA2923D7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SQD needs a different optimisation target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C0CF2-2003-1021-D590-83F348D34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9" y="1023567"/>
            <a:ext cx="8667378" cy="5245258"/>
          </a:xfrm>
        </p:spPr>
        <p:txBody>
          <a:bodyPr/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b="0"/>
              <a:t>In VQE, the ansatz state is the final variational approximation: </a:t>
            </a:r>
            <a:r>
              <a:rPr lang="en-GB"/>
              <a:t>min⟨</a:t>
            </a:r>
            <a:r>
              <a:rPr lang="el-GR"/>
              <a:t>ψ</a:t>
            </a:r>
            <a:r>
              <a:rPr lang="en-GB" baseline="-25000"/>
              <a:t>LUCJ​</a:t>
            </a:r>
            <a:r>
              <a:rPr lang="en-GB"/>
              <a:t>∣H∣</a:t>
            </a:r>
            <a:r>
              <a:rPr lang="el-GR"/>
              <a:t>ψ</a:t>
            </a:r>
            <a:r>
              <a:rPr lang="en-GB" baseline="-25000"/>
              <a:t>LUCJ​</a:t>
            </a:r>
            <a:r>
              <a:rPr lang="en-GB"/>
              <a:t>⟩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4"/>
                </a:solidFill>
              </a:rPr>
              <a:t>In SQD, the LUCJ ansatz is merely sampled – not the solution!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b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b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b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b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b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b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b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b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b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b="0"/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>
              <a:solidFill>
                <a:schemeClr val="accent4"/>
              </a:solidFill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b="0"/>
              <a:t>A layout with worse variational energy can produce a </a:t>
            </a:r>
            <a:r>
              <a:rPr lang="en-GB"/>
              <a:t>better</a:t>
            </a:r>
            <a:r>
              <a:rPr lang="en-GB" b="0"/>
              <a:t> finite subspace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b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/>
              <a:t>Low LUCJ variational energy is not a sufficient objective for SQD</a:t>
            </a:r>
            <a:endParaRPr lang="en-GB" b="0"/>
          </a:p>
          <a:p>
            <a:pPr lvl="1"/>
            <a:endParaRPr lang="en-GB" b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6C5E430-7A7D-0E25-15A1-DD3EC982ABD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9597"/>
            <a:ext cx="8668310" cy="371567"/>
          </a:xfrm>
        </p:spPr>
        <p:txBody>
          <a:bodyPr/>
          <a:lstStyle/>
          <a:p>
            <a:r>
              <a:rPr lang="en-US"/>
              <a:t>The LUCJ ansatz plays a different role in VQE vs SQD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C0A15-40F1-E339-1316-6BCB9FBD6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1375F-4487-2FEE-F773-04B67440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D0702-0FAA-EAD5-011E-67CD9026C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4</a:t>
            </a:fld>
            <a:endParaRPr lang="en-GB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574252D4-C3A3-D394-E708-BD56218700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7932585"/>
              </p:ext>
            </p:extLst>
          </p:nvPr>
        </p:nvGraphicFramePr>
        <p:xfrm>
          <a:off x="545239" y="1970201"/>
          <a:ext cx="8292389" cy="20927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303079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503BD-8051-A128-D7A7-A373BB30D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B0CC8-B072-7F6E-33DC-F2192CE46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proposed solution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158C6-0C17-F8A0-56C2-B3EBF6BF3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91" y="1104595"/>
            <a:ext cx="8649456" cy="380549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The heavy-hex graph is fixed by hardware – </a:t>
            </a:r>
            <a:r>
              <a:rPr lang="en-GB" b="1"/>
              <a:t>the orbital-to-qubit assignment is not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Lever 1 – Anchor selection: Which orbitals occupy the sparse opposite-spin sites?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Lever 2 - Choose the same-spin orbital order along the heavy-hex chains, which determines the nearest-neighbours.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>
                <a:solidFill>
                  <a:schemeClr val="accent6"/>
                </a:solidFill>
              </a:rPr>
              <a:t>Selection metric - Prioritise anchor assignments with high retained opposite-spin Jastrow weight</a:t>
            </a:r>
          </a:p>
          <a:p>
            <a:endParaRPr lang="en-GB" b="1">
              <a:solidFill>
                <a:schemeClr val="accent6"/>
              </a:solidFill>
            </a:endParaRPr>
          </a:p>
          <a:p>
            <a:r>
              <a:rPr lang="en-GB" sz="1400" b="1" u="sng"/>
              <a:t>Novelty:</a:t>
            </a:r>
          </a:p>
          <a:p>
            <a:endParaRPr lang="en-GB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The zig-zag layout has been unchanged since Motta et al., Chem. Sci. 2023, every SQD application since then inherits it – no published work varies it or reports its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Nearest work (Sung et al. 2025) re-optimises parameters under a fixed mask; we choose </a:t>
            </a:r>
            <a:r>
              <a:rPr lang="en-GB" sz="1400" b="1"/>
              <a:t>what the mask keeps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b="1"/>
          </a:p>
          <a:p>
            <a:r>
              <a:rPr lang="en-GB" sz="1400" b="1" u="sng"/>
              <a:t>Goal:</a:t>
            </a:r>
          </a:p>
          <a:p>
            <a:endParaRPr lang="en-GB" b="1">
              <a:solidFill>
                <a:schemeClr val="accent6"/>
              </a:solidFill>
            </a:endParaRPr>
          </a:p>
          <a:p>
            <a:endParaRPr lang="en-GB" b="1"/>
          </a:p>
          <a:p>
            <a:endParaRPr lang="en-GB" b="1">
              <a:solidFill>
                <a:schemeClr val="accent6"/>
              </a:solidFill>
            </a:endParaRPr>
          </a:p>
          <a:p>
            <a:endParaRPr lang="en-GB" b="1"/>
          </a:p>
          <a:p>
            <a:endParaRPr lang="en-GB" b="1"/>
          </a:p>
          <a:p>
            <a:endParaRPr lang="en-GB" b="1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>
              <a:solidFill>
                <a:schemeClr val="accent6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85E3E2-C205-9AD8-8CCC-E706BEDD8B36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How can we optimise the subspace for SQD calculations?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3CDD3-9F17-B01A-D2D7-0388657B5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C1DD3-F7B6-874D-B975-3ABE6840C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F376F-9789-0AB1-05DE-B54AB2071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5</a:t>
            </a:fld>
            <a:endParaRPr lang="en-GB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C1CDC4F-FF77-CE88-DCF8-D99F759D7037}"/>
              </a:ext>
            </a:extLst>
          </p:cNvPr>
          <p:cNvSpPr/>
          <p:nvPr/>
        </p:nvSpPr>
        <p:spPr>
          <a:xfrm>
            <a:off x="453404" y="5639940"/>
            <a:ext cx="1777349" cy="66534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Better masked LUCJ state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F7E6660-5FE7-75C9-49AE-C5CAFEBE6758}"/>
              </a:ext>
            </a:extLst>
          </p:cNvPr>
          <p:cNvSpPr/>
          <p:nvPr/>
        </p:nvSpPr>
        <p:spPr>
          <a:xfrm>
            <a:off x="3730977" y="5640517"/>
            <a:ext cx="1682045" cy="63654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Better sampled SQD subspace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BA1320-CBE3-D95C-8975-73A826B75C59}"/>
              </a:ext>
            </a:extLst>
          </p:cNvPr>
          <p:cNvSpPr/>
          <p:nvPr/>
        </p:nvSpPr>
        <p:spPr>
          <a:xfrm>
            <a:off x="6913246" y="5611718"/>
            <a:ext cx="1777349" cy="66534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bg1"/>
                </a:solidFill>
              </a:rPr>
              <a:t>More accurate recovered energy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F492A09-3F84-40B9-07C2-8A903479E8B5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2230753" y="5958791"/>
            <a:ext cx="1500224" cy="13822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3069315-54C9-3600-90CA-7FF3B389F4F4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 flipV="1">
            <a:off x="5413022" y="5944392"/>
            <a:ext cx="1500224" cy="14399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69143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89321-D341-78EB-1F14-6EDEF5D4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8611E-27A9-BF16-FD7C-0D2E0C520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Experimental pipeline and validation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2B653B3-B97A-E8FD-309D-C48C51C80F5F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50743"/>
            <a:ext cx="8668310" cy="371567"/>
          </a:xfrm>
        </p:spPr>
        <p:txBody>
          <a:bodyPr/>
          <a:lstStyle/>
          <a:p>
            <a:r>
              <a:rPr lang="en-US"/>
              <a:t>What does the structure of the experiment look like?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AB21F-3CC9-1EA2-B81D-F5259503E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4223C9-D4D8-86BC-32D7-532FE9857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E3D3D-385F-619B-27A8-6DFD1B5E8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6</a:t>
            </a:fld>
            <a:endParaRPr lang="en-GB"/>
          </a:p>
        </p:txBody>
      </p:sp>
      <p:graphicFrame>
        <p:nvGraphicFramePr>
          <p:cNvPr id="21" name="Content Placeholder 20">
            <a:extLst>
              <a:ext uri="{FF2B5EF4-FFF2-40B4-BE49-F238E27FC236}">
                <a16:creationId xmlns:a16="http://schemas.microsoft.com/office/drawing/2014/main" id="{9E0FF05F-D418-4529-08DE-7C9FA38C5F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763903"/>
              </p:ext>
            </p:extLst>
          </p:nvPr>
        </p:nvGraphicFramePr>
        <p:xfrm>
          <a:off x="237937" y="936978"/>
          <a:ext cx="4656666" cy="37535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6A822F75-E018-0F45-694D-13DE13169F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139340"/>
              </p:ext>
            </p:extLst>
          </p:nvPr>
        </p:nvGraphicFramePr>
        <p:xfrm>
          <a:off x="1524000" y="5087337"/>
          <a:ext cx="6096000" cy="7416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85957069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1591542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Published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My 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29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-109.04835269 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-109.04835269469… Ha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381703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CD3E8D8C-3AD8-B9CB-8015-B3BA2CEBA4E1}"/>
              </a:ext>
            </a:extLst>
          </p:cNvPr>
          <p:cNvSpPr txBox="1"/>
          <p:nvPr/>
        </p:nvSpPr>
        <p:spPr>
          <a:xfrm>
            <a:off x="5119511" y="936978"/>
            <a:ext cx="3651956" cy="3414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Validate by calculating SQD ground-state electronic energy of N</a:t>
            </a:r>
            <a:r>
              <a:rPr lang="en-US" sz="1600" baseline="-25000">
                <a:solidFill>
                  <a:schemeClr val="tx1"/>
                </a:solidFill>
              </a:rPr>
              <a:t>2</a:t>
            </a:r>
            <a:endParaRPr lang="en-US" sz="1600" baseline="-25000"/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</a:pPr>
            <a:endParaRPr lang="en-US" sz="1600" baseline="-25000">
              <a:solidFill>
                <a:schemeClr val="tx1"/>
              </a:solidFill>
            </a:endParaRPr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600"/>
              <a:t>Using Shirakawa-san’s SBD repository (data/n2 &gt; 1em4-alpha.txt)</a:t>
            </a:r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sz="1600"/>
              <a:t>In the pipeline, sbd code used unmodified, Stages 1-3 all unique from benchmark.</a:t>
            </a:r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</a:pPr>
            <a:endParaRPr lang="en-US" sz="1600">
              <a:solidFill>
                <a:schemeClr val="tx1"/>
              </a:solidFill>
            </a:endParaRPr>
          </a:p>
          <a:p>
            <a:pPr marL="285750" indent="-285750" algn="l">
              <a:lnSpc>
                <a:spcPct val="105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021332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61FCE-77B6-CB71-C857-E165B47E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37736-EBCD-B304-030B-7DF64EF282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Does layout matter?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63A215-138E-9940-3B06-8A9C1854D4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Quantifying the effect of orbital-to-qubit assignment on SQD accuracy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2DD6B1-C141-C400-2405-F03E70D83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1B27-9C9A-AD4F-B470-509B5E6C368C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A58F2-E9F3-508A-D98D-177EA5A6A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0BFC5-EAFD-2042-0DC7-7EF6E2DA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17027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4C051-3757-3A71-D571-35EAC75FC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9E09-EF22-35AE-1197-6B7DCE79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5185442" cy="281604"/>
          </a:xfrm>
        </p:spPr>
        <p:txBody>
          <a:bodyPr/>
          <a:lstStyle/>
          <a:p>
            <a:r>
              <a:rPr lang="en-US"/>
              <a:t>Orbital layout changes the answer by 8x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63CFA69-0DB7-5F65-06F6-413A42C57E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8847" y="6481862"/>
            <a:ext cx="2057400" cy="137270"/>
          </a:xfrm>
        </p:spPr>
        <p:txBody>
          <a:bodyPr/>
          <a:lstStyle/>
          <a:p>
            <a:fld id="{BC1DFFBA-7976-7946-901D-8986A2AD45C9}" type="datetime1">
              <a:rPr lang="en-GB" smtClean="0"/>
              <a:t>31/08/2026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F3BEBEB-3A8A-2675-3939-9283C6425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3945" y="6481859"/>
            <a:ext cx="2567589" cy="137272"/>
          </a:xfrm>
        </p:spPr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6EAA89-B8E0-153C-D720-1000A9541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52566" y="6481859"/>
            <a:ext cx="238868" cy="137272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D9197-2446-DE81-2877-E7ED47834A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7"/>
            <a:ext cx="8770596" cy="232923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N</a:t>
            </a:r>
            <a:r>
              <a:rPr lang="en-GB" baseline="-25000"/>
              <a:t>2 </a:t>
            </a:r>
            <a:r>
              <a:rPr lang="en-GB"/>
              <a:t>CAS(6,10): 149 random layouts - 21.65 → 173.23 mHa error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H</a:t>
            </a:r>
            <a:r>
              <a:rPr lang="en-GB" baseline="-25000"/>
              <a:t>10 </a:t>
            </a:r>
            <a:r>
              <a:rPr lang="en-GB"/>
              <a:t>CAS(10,10): 50 random layouts – 168.67 → 454.89 mHa error</a:t>
            </a:r>
          </a:p>
          <a:p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Only the orbital-to-qubit map changed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Seed-to-seed deviation: </a:t>
            </a:r>
            <a:r>
              <a:rPr lang="en-GB" b="1"/>
              <a:t>Zero</a:t>
            </a: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Between/within variance ratio </a:t>
            </a:r>
          </a:p>
          <a:p>
            <a:r>
              <a:rPr lang="en-GB"/>
              <a:t>     27.2 (N</a:t>
            </a:r>
            <a:r>
              <a:rPr lang="en-GB" baseline="-25000"/>
              <a:t>2</a:t>
            </a:r>
            <a:r>
              <a:rPr lang="en-GB"/>
              <a:t>) and 278.2 (H</a:t>
            </a:r>
            <a:r>
              <a:rPr lang="en-GB" baseline="-25000"/>
              <a:t>10</a:t>
            </a:r>
            <a:r>
              <a:rPr lang="en-GB"/>
              <a:t>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2A57DBF-756E-5A5D-8A4F-F5EAFF65A037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292" y="2740297"/>
            <a:ext cx="5474241" cy="30941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ECC612-CAB2-37B4-6C35-87C3B530C784}"/>
              </a:ext>
            </a:extLst>
          </p:cNvPr>
          <p:cNvSpPr txBox="1"/>
          <p:nvPr/>
        </p:nvSpPr>
        <p:spPr>
          <a:xfrm>
            <a:off x="237937" y="4287365"/>
            <a:ext cx="3115733" cy="74506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05000"/>
              </a:lnSpc>
            </a:pPr>
            <a:r>
              <a:rPr lang="en-US" sz="2400" b="1">
                <a:solidFill>
                  <a:schemeClr val="accent6"/>
                </a:solidFill>
              </a:rPr>
              <a:t>Orbital ordering matters here!</a:t>
            </a:r>
            <a:endParaRPr lang="en-US" sz="2400" b="1" dirty="0">
              <a:solidFill>
                <a:schemeClr val="accent6"/>
              </a:solidFill>
            </a:endParaRPr>
          </a:p>
        </p:txBody>
      </p:sp>
      <p:sp>
        <p:nvSpPr>
          <p:cNvPr id="13" name="Subtitle 3">
            <a:extLst>
              <a:ext uri="{FF2B5EF4-FFF2-40B4-BE49-F238E27FC236}">
                <a16:creationId xmlns:a16="http://schemas.microsoft.com/office/drawing/2014/main" id="{A7C25FDA-F541-0620-E4F7-814E24A47E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/>
          <a:p>
            <a:r>
              <a:rPr lang="en-US"/>
              <a:t>Same Hamiltonian, same shots, same 225-determinant budget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00245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0FBE9-456B-7436-BD1B-42B4B1355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5A24B-BFB5-08E8-4A6A-92D6F4BD4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Two surprises in the baseline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780333B-2039-D93C-F372-93A5A1A8E0FF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Geometric ordering fails, and the inherited convention is inconsistent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A0074-27B3-9655-76EF-9FBC94474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8" y="1023568"/>
            <a:ext cx="8667379" cy="21091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1"/>
                </a:solidFill>
              </a:rPr>
              <a:t>Geometric ordering (orbitals by position along the chain) – 2</a:t>
            </a:r>
            <a:r>
              <a:rPr lang="en-GB" baseline="30000">
                <a:solidFill>
                  <a:schemeClr val="accent1"/>
                </a:solidFill>
              </a:rPr>
              <a:t>nd</a:t>
            </a:r>
            <a:r>
              <a:rPr lang="en-GB">
                <a:solidFill>
                  <a:schemeClr val="accent1"/>
                </a:solidFill>
              </a:rPr>
              <a:t> percentile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Spatial locality is actively harmful 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4"/>
                </a:solidFill>
              </a:rPr>
              <a:t>Inherited layout – 4.7</a:t>
            </a:r>
            <a:r>
              <a:rPr lang="en-GB" baseline="30000">
                <a:solidFill>
                  <a:schemeClr val="accent4"/>
                </a:solidFill>
              </a:rPr>
              <a:t>th</a:t>
            </a:r>
            <a:r>
              <a:rPr lang="en-GB">
                <a:solidFill>
                  <a:schemeClr val="accent4"/>
                </a:solidFill>
              </a:rPr>
              <a:t> percentile on N</a:t>
            </a:r>
            <a:r>
              <a:rPr lang="en-GB" baseline="-25000">
                <a:solidFill>
                  <a:schemeClr val="accent4"/>
                </a:solidFill>
              </a:rPr>
              <a:t>2</a:t>
            </a:r>
            <a:r>
              <a:rPr lang="en-GB">
                <a:solidFill>
                  <a:schemeClr val="accent4"/>
                </a:solidFill>
              </a:rPr>
              <a:t> but 26</a:t>
            </a:r>
            <a:r>
              <a:rPr lang="en-GB" baseline="30000">
                <a:solidFill>
                  <a:schemeClr val="accent4"/>
                </a:solidFill>
              </a:rPr>
              <a:t>th</a:t>
            </a:r>
            <a:r>
              <a:rPr lang="en-GB">
                <a:solidFill>
                  <a:schemeClr val="accent4"/>
                </a:solidFill>
              </a:rPr>
              <a:t> on H</a:t>
            </a:r>
            <a:r>
              <a:rPr lang="en-GB" baseline="-25000">
                <a:solidFill>
                  <a:schemeClr val="accent4"/>
                </a:solidFill>
              </a:rPr>
              <a:t>10</a:t>
            </a:r>
            <a:endParaRPr lang="en-GB">
              <a:solidFill>
                <a:schemeClr val="accent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Canonical orbitals arrive in a lucky order – localised orbitals don’t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A433F-0487-41C4-167C-5CD156F8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A3559-328D-2D4A-BEF9-283ABB422A3F}" type="datetime1">
              <a:rPr lang="en-GB" smtClean="0"/>
              <a:t>31/08/2026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A52D81-F80B-0D9B-6C83-A81B71F0C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819F5C-5E66-A4A2-005C-56DB26FD6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10" name="Content Placeholder 10">
            <a:extLst>
              <a:ext uri="{FF2B5EF4-FFF2-40B4-BE49-F238E27FC236}">
                <a16:creationId xmlns:a16="http://schemas.microsoft.com/office/drawing/2014/main" id="{2A88B6D4-2182-4ECB-BF78-8B05166B3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4879" y="3296182"/>
            <a:ext cx="5474241" cy="3094136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B0379EBA-9362-5D25-20C1-8471BD514750}"/>
              </a:ext>
            </a:extLst>
          </p:cNvPr>
          <p:cNvSpPr/>
          <p:nvPr/>
        </p:nvSpPr>
        <p:spPr>
          <a:xfrm>
            <a:off x="5757336" y="4538132"/>
            <a:ext cx="158044" cy="163689"/>
          </a:xfrm>
          <a:prstGeom prst="ellipse">
            <a:avLst/>
          </a:prstGeom>
          <a:noFill/>
          <a:ln>
            <a:solidFill>
              <a:schemeClr val="accent1">
                <a:hueOff val="0"/>
                <a:satOff val="0"/>
                <a:lumOff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8C30908-07AB-AFA2-467E-24BD1F5A193D}"/>
              </a:ext>
            </a:extLst>
          </p:cNvPr>
          <p:cNvSpPr/>
          <p:nvPr/>
        </p:nvSpPr>
        <p:spPr>
          <a:xfrm>
            <a:off x="2534356" y="5874066"/>
            <a:ext cx="146755" cy="158044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5F29033-4281-AD8A-01F8-A810A837F905}"/>
              </a:ext>
            </a:extLst>
          </p:cNvPr>
          <p:cNvSpPr/>
          <p:nvPr/>
        </p:nvSpPr>
        <p:spPr>
          <a:xfrm>
            <a:off x="4323647" y="4538132"/>
            <a:ext cx="163689" cy="163689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80341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6F654-FA36-5DE3-6A2B-E94D698FE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CFC4-336A-61E8-F781-9E0E75D6A0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Why does it matter?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EFD58-08A2-A9C7-FDC9-7CCEAFB0F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mechanism behind orbital ordering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2ABE4-B06B-07FE-5C3E-D42221CD8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1B27-9C9A-AD4F-B470-509B5E6C368C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DE731-CF5F-FE5C-3E27-70441FBA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5B396-B09F-5E3B-A6A4-95FF2FAB3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68812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23AFA-F57E-9F1B-CCC5-9533E61BE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DF066-3008-C378-D4BD-54713AD84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5185442" cy="281604"/>
          </a:xfrm>
        </p:spPr>
        <p:txBody>
          <a:bodyPr/>
          <a:lstStyle/>
          <a:p>
            <a:r>
              <a:rPr lang="en-US"/>
              <a:t>The mechanism: Subspace Capture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99FC44E-1C76-0E3C-1144-49BF65BCF2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8847" y="6481862"/>
            <a:ext cx="2057400" cy="137270"/>
          </a:xfrm>
        </p:spPr>
        <p:txBody>
          <a:bodyPr/>
          <a:lstStyle/>
          <a:p>
            <a:fld id="{BC1DFFBA-7976-7946-901D-8986A2AD45C9}" type="datetime1">
              <a:rPr lang="en-GB" smtClean="0"/>
              <a:t>31/08/2026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9F35E6-9272-78DC-3CB6-BCE314B4D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3945" y="6481859"/>
            <a:ext cx="2567589" cy="137272"/>
          </a:xfrm>
        </p:spPr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8F699D-9178-ABF0-C69D-5E5323136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52566" y="6481859"/>
            <a:ext cx="238868" cy="137272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66FD8-2DA5-CE1A-8251-CF0EF75F51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7"/>
            <a:ext cx="8770596" cy="232923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Capture = fraction of the exact wavefunction inside the sampled subspace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⍴(capture,error) = -0.88 (N</a:t>
            </a:r>
            <a:r>
              <a:rPr lang="en-GB" baseline="-25000"/>
              <a:t>2</a:t>
            </a:r>
            <a:r>
              <a:rPr lang="en-GB"/>
              <a:t>), -0.98 (H</a:t>
            </a:r>
            <a:r>
              <a:rPr lang="en-GB" baseline="-25000"/>
              <a:t>10</a:t>
            </a:r>
            <a:r>
              <a:rPr lang="en-GB"/>
              <a:t>), -0.97 (Cr</a:t>
            </a:r>
            <a:r>
              <a:rPr lang="en-GB" baseline="-25000"/>
              <a:t>2</a:t>
            </a:r>
            <a:r>
              <a:rPr lang="en-GB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Holds at 21 chains, 3 systems, 2 bases, 2 correlation regimes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Zero failures, including 12 chains held out from all development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Layout → sampled distribution → capture → SQD error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F753839-AE8C-5843-7881-947636636EAF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/>
          <a:p>
            <a:r>
              <a:rPr lang="en-US"/>
              <a:t>How much of the exact wavefunction the sampled subspace contains</a:t>
            </a:r>
            <a:endParaRPr lang="en-US" dirty="0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4B64D14B-F806-27D2-0860-16F33AD192EC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112" y="3714044"/>
            <a:ext cx="6408970" cy="218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2829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8C457-DE47-6435-49C9-FF0B21E1E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BB536-E498-835A-7DF3-A541FE7FB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5185442" cy="281604"/>
          </a:xfrm>
        </p:spPr>
        <p:txBody>
          <a:bodyPr/>
          <a:lstStyle/>
          <a:p>
            <a:r>
              <a:rPr lang="en-US"/>
              <a:t>And it transfers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C1E0E55-FE26-0226-291D-A61E8AD492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8847" y="6481862"/>
            <a:ext cx="2057400" cy="137270"/>
          </a:xfrm>
        </p:spPr>
        <p:txBody>
          <a:bodyPr/>
          <a:lstStyle/>
          <a:p>
            <a:fld id="{BC1DFFBA-7976-7946-901D-8986A2AD45C9}" type="datetime1">
              <a:rPr lang="en-GB" smtClean="0"/>
              <a:t>31/08/2026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0AE5880-DC71-4A36-445F-8AAD76C93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3945" y="6481859"/>
            <a:ext cx="2567589" cy="137272"/>
          </a:xfrm>
        </p:spPr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7F3F311-3264-717A-6656-A51F28983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52566" y="6481859"/>
            <a:ext cx="238868" cy="137272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B5613-082A-ACAC-84B7-1B4E4B742C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3550391"/>
            <a:ext cx="8770596" cy="232923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Raw ranges differ – normalised by headroom, they don’t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Small effect near the ceiling is geometry, not weakness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Cr</a:t>
            </a:r>
            <a:r>
              <a:rPr lang="en-GB" baseline="-25000"/>
              <a:t>2 </a:t>
            </a:r>
            <a:r>
              <a:rPr lang="en-GB"/>
              <a:t>CAS(12,12): a 3d transition-metal dimer, strongly correlated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On Cr</a:t>
            </a:r>
            <a:r>
              <a:rPr lang="en-GB" baseline="-25000"/>
              <a:t>2 </a:t>
            </a:r>
            <a:r>
              <a:rPr lang="en-GB"/>
              <a:t>, identity and reverse gave </a:t>
            </a:r>
            <a:r>
              <a:rPr lang="en-GB" b="1"/>
              <a:t>bit-identical </a:t>
            </a:r>
            <a:r>
              <a:rPr lang="en-GB"/>
              <a:t>results – independent confirmation of the reversal argument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58B4EC6-ECE5-D88F-CB02-131DFB6C1E1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/>
          <a:p>
            <a:r>
              <a:rPr lang="en-US"/>
              <a:t>Three systems, normalised by available headroom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80C4717-1349-DEC6-D931-C8B039A77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091750"/>
              </p:ext>
            </p:extLst>
          </p:nvPr>
        </p:nvGraphicFramePr>
        <p:xfrm>
          <a:off x="762000" y="1337733"/>
          <a:ext cx="7620000" cy="161042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17702494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40643681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8187448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786576855"/>
                    </a:ext>
                  </a:extLst>
                </a:gridCol>
              </a:tblGrid>
              <a:tr h="510388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H</a:t>
                      </a:r>
                      <a:r>
                        <a:rPr lang="en-US" baseline="-25000"/>
                        <a:t>10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N</a:t>
                      </a:r>
                      <a:r>
                        <a:rPr lang="en-US" baseline="-25000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Cr</a:t>
                      </a:r>
                      <a:r>
                        <a:rPr lang="en-US" baseline="-25000"/>
                        <a:t>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722455"/>
                  </a:ext>
                </a:extLst>
              </a:tr>
              <a:tr h="52091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Capture ceiling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0.881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52477"/>
                  </a:ext>
                </a:extLst>
              </a:tr>
              <a:tr h="520917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Range/unit headroom (mHa)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1677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4325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18420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8A6E9-9250-6C24-CF28-522BAE68A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952B9-711D-FD58-FD15-24E3E32F75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Can we predict a good layout?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493EA-5620-5730-12BE-C359C1B1C2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Testing cheap scores against the full permutation search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C1C99-D934-BED9-55F6-347AE0792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1B27-9C9A-AD4F-B470-509B5E6C368C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BAC3E-EF28-C699-C399-4110A671A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E0C7E-868F-2ABC-5ADE-3D9E08BE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69311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F21FD-3646-719D-F4D7-7F44EC6C5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BB90-46F2-C33F-8E00-5F0A32253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5185442" cy="281604"/>
          </a:xfrm>
        </p:spPr>
        <p:txBody>
          <a:bodyPr/>
          <a:lstStyle/>
          <a:p>
            <a:r>
              <a:rPr lang="en-US"/>
              <a:t>Every cheap predictor fails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DFA5DF-CA0B-2AB2-C11C-4DD67EA2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8847" y="6481862"/>
            <a:ext cx="2057400" cy="137270"/>
          </a:xfrm>
        </p:spPr>
        <p:txBody>
          <a:bodyPr/>
          <a:lstStyle/>
          <a:p>
            <a:fld id="{BC1DFFBA-7976-7946-901D-8986A2AD45C9}" type="datetime1">
              <a:rPr lang="en-GB" smtClean="0"/>
              <a:t>31/08/2026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E8356AF-5466-7F11-9F33-700D5480D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3945" y="6481859"/>
            <a:ext cx="2567589" cy="137272"/>
          </a:xfrm>
        </p:spPr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D0B0591-16DF-13FF-E374-5B049EB95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52566" y="6481859"/>
            <a:ext cx="238868" cy="137272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14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8731C3-0821-1955-5DB2-BDFA1625AC5D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237937" y="1406427"/>
                <a:ext cx="3803597" cy="3335885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/>
                  <a:t>11 score variants tested against 50 layouts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/>
                  <a:t>Best: ⍴ = -0.377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/>
                  <a:t>Every selection regret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GB"/>
                  <a:t> random choice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/>
                  <a:t>DMRG mutual-information ordering – 27</a:t>
                </a:r>
                <a:r>
                  <a:rPr lang="en-GB" baseline="30000"/>
                  <a:t>th</a:t>
                </a:r>
                <a:r>
                  <a:rPr lang="en-GB"/>
                  <a:t> percentile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/>
                  <a:t>Maximising retained Jastrow weight makes things </a:t>
                </a:r>
                <a:r>
                  <a:rPr lang="en-GB" b="1"/>
                  <a:t>worse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8731C3-0821-1955-5DB2-BDFA1625AC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237937" y="1406427"/>
                <a:ext cx="3803597" cy="3335885"/>
              </a:xfrm>
              <a:blipFill>
                <a:blip r:embed="rId2"/>
                <a:stretch>
                  <a:fillRect l="-2990" t="-2273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ubtitle 3">
            <a:extLst>
              <a:ext uri="{FF2B5EF4-FFF2-40B4-BE49-F238E27FC236}">
                <a16:creationId xmlns:a16="http://schemas.microsoft.com/office/drawing/2014/main" id="{A1639DA9-9006-C072-543D-3157F7AC0C68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/>
          <a:p>
            <a:r>
              <a:rPr lang="en-US"/>
              <a:t>Eleven variants, none better than random selection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29B2EEB-9C3A-9DEF-A071-9E9CDA0A8F37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646" y="1789288"/>
            <a:ext cx="4547213" cy="257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5830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49FBF-D355-C49A-EE8B-3D78F6C74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DA280-1C73-64E4-E516-C651549F7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9" y="187313"/>
            <a:ext cx="5185442" cy="281604"/>
          </a:xfrm>
        </p:spPr>
        <p:txBody>
          <a:bodyPr/>
          <a:lstStyle/>
          <a:p>
            <a:r>
              <a:rPr lang="en-US"/>
              <a:t>Why did these all fail?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18A186-D6EB-0366-6837-410205A761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8847" y="6481862"/>
            <a:ext cx="2057400" cy="137270"/>
          </a:xfrm>
        </p:spPr>
        <p:txBody>
          <a:bodyPr/>
          <a:lstStyle/>
          <a:p>
            <a:fld id="{BC1DFFBA-7976-7946-901D-8986A2AD45C9}" type="datetime1">
              <a:rPr lang="en-GB" smtClean="0"/>
              <a:t>31/08/2026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910E5E-8470-FDD8-EC7F-18C1E3422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3945" y="6481859"/>
            <a:ext cx="2567589" cy="137272"/>
          </a:xfrm>
        </p:spPr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0B99C8A-95EE-C354-3FE1-E35B6367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452566" y="6481859"/>
            <a:ext cx="238868" cy="137272"/>
          </a:xfrm>
        </p:spPr>
        <p:txBody>
          <a:bodyPr/>
          <a:lstStyle/>
          <a:p>
            <a:fld id="{CBA53E11-492D-48B3-9F9B-09541CA2A39A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7ACBF-4173-AFB3-2CAC-A7997D6523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7937" y="1023567"/>
            <a:ext cx="8770596" cy="232923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Retained J splits by spin sector:</a:t>
            </a:r>
          </a:p>
          <a:p>
            <a:pPr marL="609734" lvl="3" indent="-285750"/>
            <a:r>
              <a:rPr lang="en-GB"/>
              <a:t>Same-spin: +0.212, Opposite-spin: -0.375</a:t>
            </a:r>
          </a:p>
          <a:p>
            <a:pPr marL="609734" lvl="3" indent="-285750"/>
            <a:r>
              <a:rPr lang="en-GB"/>
              <a:t>Combined: +0.001</a:t>
            </a:r>
          </a:p>
          <a:p>
            <a:pPr marL="609734" lvl="3" indent="-285750"/>
            <a:r>
              <a:rPr lang="en-GB"/>
              <a:t>HOW?!</a:t>
            </a:r>
          </a:p>
          <a:p>
            <a:pPr marL="609734" lvl="3" indent="-285750"/>
            <a:endParaRPr lang="en-GB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b="0"/>
              <a:t>Opposite signs, </a:t>
            </a:r>
            <a:r>
              <a:rPr lang="en-GB">
                <a:solidFill>
                  <a:schemeClr val="accent4"/>
                </a:solidFill>
              </a:rPr>
              <a:t>they cancel out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b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b="0"/>
              <a:t>The only real signal lives in the </a:t>
            </a:r>
            <a:r>
              <a:rPr lang="en-GB" i="1"/>
              <a:t>opposite-spin</a:t>
            </a:r>
            <a:r>
              <a:rPr lang="en-GB" b="0"/>
              <a:t> sector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b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b="0"/>
              <a:t>Separately – capture surrogates fail on resolution, not accuracy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GB" b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b="0"/>
              <a:t>CISD target 97.3% accurate, but differences of 0.5% decide the ranking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B536AD3-3D59-345C-E9AF-B77F3D4849C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37937" y="460170"/>
            <a:ext cx="8668310" cy="371567"/>
          </a:xfrm>
        </p:spPr>
        <p:txBody>
          <a:bodyPr/>
          <a:lstStyle/>
          <a:p>
            <a:r>
              <a:rPr lang="en-US"/>
              <a:t>Two spin sectors with opposite signs</a:t>
            </a:r>
            <a:endParaRPr lang="en-US" dirty="0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02856515-FE04-CA4B-1E76-8ACA270E4696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4594" y="4204361"/>
            <a:ext cx="4214812" cy="210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0286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FECB0-FAA7-67E4-0778-02D216859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F11DA-865F-8CC5-E25F-0E837A5DB0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The Key Finding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32F87-87B5-1C6D-48F2-F3D356BD28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Decomposing the locality mask into two independent design variables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3CEDA-90DD-172F-F9D6-07B18E95C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1B27-9C9A-AD4F-B470-509B5E6C368C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C81F0-1BFA-675A-879A-0C8D078B2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2F27B-D85F-D5C3-9BB2-1F00E9457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8527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FD4E1-3C42-633F-24C2-EE6CC34D2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6D0B3-2E85-EBB4-E901-7E5B64E6D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Reversing the layout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9BA-A014-D37D-37DB-FEBBB520E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91" y="1104596"/>
            <a:ext cx="8649456" cy="36936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Chain mask keeps neighbours (k, k+1) – reversal maps these to (n-2-k, n-1-k)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Verified for 57/57 layouts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i="1"/>
              <a:t>What changes</a:t>
            </a:r>
            <a:r>
              <a:rPr lang="en-GB" i="1"/>
              <a:t> </a:t>
            </a:r>
            <a:r>
              <a:rPr lang="en-GB"/>
              <a:t>– which orbitals land on opposite-spin anchors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physical: 389.71 mHa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physical_reverse: 218.64 mHa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171 mHa from moving 3 anchors – 60% of the entire random spread</a:t>
            </a:r>
          </a:p>
          <a:p>
            <a:endParaRPr lang="en-GB" b="1">
              <a:solidFill>
                <a:schemeClr val="accent6"/>
              </a:solidFill>
            </a:endParaRPr>
          </a:p>
          <a:p>
            <a:endParaRPr lang="en-GB" b="1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>
              <a:solidFill>
                <a:schemeClr val="accent6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C3D8816-1B5F-E7F1-93C5-417B1D308CDA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Reversal holds same-spin couplings fixed and moves only the anchors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C5433-3C8B-CC69-35E2-0DDD6DD28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DC01C-0D1F-A5C5-55DB-2907CFFC3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9DF62-6196-BD03-3524-B850E2EA4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17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CD8AE3-EC9B-4DB8-316A-00D9D7102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44" y="4401242"/>
            <a:ext cx="7210312" cy="123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166827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9A077-EAF2-132C-1DA6-0967289A0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167C5-CCD4-341E-68FE-A2FD5CC93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mask has two levers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74FB1-34CC-2722-B5F2-61F292B9D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91" y="1104596"/>
            <a:ext cx="8649456" cy="36936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Holding the layout fixed and sweeping anchor placement alone spans </a:t>
            </a:r>
            <a:r>
              <a:rPr lang="en-GB" b="1"/>
              <a:t>171.08 mHa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Against the reversal gap of 171.07 mHa – agrees to </a:t>
            </a:r>
            <a:r>
              <a:rPr lang="en-GB" b="1"/>
              <a:t>0.01 mHa</a:t>
            </a: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>
                <a:solidFill>
                  <a:schemeClr val="accent1"/>
                </a:solidFill>
              </a:rPr>
              <a:t>The gap is therefore attributable to anchor placement alone!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Same spin ordering: 10! = 3,628,800 choices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Anchor selection: C(10,3) = 120 choices</a:t>
            </a:r>
          </a:p>
          <a:p>
            <a:endParaRPr lang="en-GB" b="1"/>
          </a:p>
          <a:p>
            <a:endParaRPr lang="en-GB" b="1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>
              <a:solidFill>
                <a:schemeClr val="accent6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175F285-CF2D-D9BC-31CB-41B555AF037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Same-spin ordering and opposite-spin anchor placement are separable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D9B07-8EB2-9C60-8FDE-3B16D84BE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21F31-C2CA-89A2-682A-BF6E98346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F312A1-D0C4-2D5C-1D7C-47221011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18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9C56D4-F398-44E7-3F8D-E1777A2AC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9961" y="3819426"/>
            <a:ext cx="4824078" cy="241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315990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2E484-3BAA-2C5A-A7F4-2143226D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D3DF4-1728-4763-FE47-BFE175D85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small lever does most of the 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EA44D-AF61-2343-8BCD-908F05120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91" y="1104596"/>
            <a:ext cx="8649456" cy="36936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Anchor selection spans </a:t>
            </a:r>
            <a:r>
              <a:rPr lang="en-GB" b="1"/>
              <a:t>234 mHa </a:t>
            </a:r>
            <a:r>
              <a:rPr lang="en-GB"/>
              <a:t>from 120 choices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Full permutation search spans </a:t>
            </a:r>
            <a:r>
              <a:rPr lang="en-GB" b="1"/>
              <a:t>286 mHa</a:t>
            </a:r>
            <a:r>
              <a:rPr lang="en-GB"/>
              <a:t> from ~ 3.6 million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Optimising anchors compresses the layout spread </a:t>
            </a:r>
            <a:r>
              <a:rPr lang="en-GB" b="1"/>
              <a:t>3.09x </a:t>
            </a:r>
            <a:r>
              <a:rPr lang="en-GB"/>
              <a:t>across 20 chains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>
                <a:solidFill>
                  <a:schemeClr val="accent1"/>
                </a:solidFill>
              </a:rPr>
              <a:t>The worst baseline chain overtakes the best after anchor optimisation!</a:t>
            </a:r>
          </a:p>
          <a:p>
            <a:endParaRPr lang="en-GB" b="1">
              <a:solidFill>
                <a:schemeClr val="accent1"/>
              </a:solidFill>
            </a:endParaRPr>
          </a:p>
          <a:p>
            <a:endParaRPr lang="en-GB" b="1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>
              <a:solidFill>
                <a:schemeClr val="accent6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716191E-2C33-C02F-4EAD-8EA7B4623FC9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Anchor selection is crucial 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F6B43-F1BD-6AA9-7AD4-BBE22EE3C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39828-3EDC-D0AF-A4D4-54E06B8F5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B86E0-C6AA-4914-E753-27880838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19</a:t>
            </a:fld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953D0FB-22AF-BC64-6D92-A24C924FB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003"/>
          <a:stretch>
            <a:fillRect/>
          </a:stretch>
        </p:blipFill>
        <p:spPr>
          <a:xfrm>
            <a:off x="1522406" y="3287000"/>
            <a:ext cx="5550084" cy="302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004184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4A7BF-2A2A-E484-0A9F-1D0C49BE5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F7303-B6D3-17F8-2444-DE66B9B1B1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Can we exploit it?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BE9A2D-D9CB-F029-079B-113AA36C9A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Building and testing a cheap anchor selection rule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579BD-2C3A-0166-41C5-9B317A858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1B27-9C9A-AD4F-B470-509B5E6C368C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06FF3-F365-ADC6-FAB2-CBABC3116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1D826-CD8E-C9FE-1010-9E1606D81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42492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39BB1-967E-D824-985C-7FBB9F8CD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0BABD-15EC-0089-C9F2-2E0F6D07D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cheap rule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9EE1D-458C-50B3-7E4F-38A1EB481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91" y="1104596"/>
            <a:ext cx="8649456" cy="36936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S₀ = sum of |J</a:t>
            </a:r>
            <a:r>
              <a:rPr lang="en-GB" baseline="-25000"/>
              <a:t>αβ</a:t>
            </a:r>
            <a:r>
              <a:rPr lang="en-GB"/>
              <a:t>| over the anchored orbitals. Free to compute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/>
              <a:t>Correct sign at </a:t>
            </a:r>
            <a:r>
              <a:rPr lang="en-GB" b="1"/>
              <a:t>18 of 18 chains</a:t>
            </a:r>
            <a:r>
              <a:rPr lang="en-GB"/>
              <a:t>, significant at all 18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/>
              <a:t>Median ρ(capture) = </a:t>
            </a:r>
            <a:r>
              <a:rPr lang="en-GB" b="1"/>
              <a:t>+0.703</a:t>
            </a:r>
            <a:r>
              <a:rPr lang="en-GB"/>
              <a:t>, worst case </a:t>
            </a:r>
            <a:r>
              <a:rPr lang="en-GB" b="1"/>
              <a:t>+0.361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/>
              <a:t>Predicts the LUCJ variational energy at ρ = </a:t>
            </a:r>
            <a:r>
              <a:rPr lang="en-GB" b="1"/>
              <a:t>−0.85 to −0.97</a:t>
            </a:r>
            <a:r>
              <a:rPr lang="en-GB"/>
              <a:t>, all three systems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/>
              <a:t>Best anchor triple recovers </a:t>
            </a:r>
            <a:r>
              <a:rPr lang="en-GB" b="1"/>
              <a:t>75.72 mHa</a:t>
            </a:r>
            <a:r>
              <a:rPr lang="en-GB"/>
              <a:t> by changing three integers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endParaRPr lang="en-GB" b="1"/>
          </a:p>
          <a:p>
            <a:endParaRPr lang="en-GB" b="1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>
              <a:solidFill>
                <a:schemeClr val="accent6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AF6E79F-F97A-30EA-D868-79102A27CD3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Opposite-spin Jastrow weight, no wavefunction required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E609C-2225-60DE-04EF-9502048FC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08371-EB97-3674-9AB1-763FD4A47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C96CC-DA8D-7400-FCB5-810C74E7B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084285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67C59-63C1-E570-1AC5-7C1C5F0DD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99D2B-B7F3-5714-DAF9-0ED80940A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deployable objective is a shortlist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AE38E-269F-4B20-14D3-875DE79D8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91" y="1104596"/>
            <a:ext cx="8649456" cy="36936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Rank all 120 anchor triples by S</a:t>
            </a:r>
            <a:r>
              <a:rPr lang="en-GB" baseline="-25000"/>
              <a:t>0</a:t>
            </a:r>
            <a:r>
              <a:rPr lang="en-GB"/>
              <a:t> – evaluate the top 5 and take the winner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>
                <a:solidFill>
                  <a:schemeClr val="accent6"/>
                </a:solidFill>
              </a:rPr>
              <a:t>Within 0.2% of the best available candidate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Twelve chains </a:t>
            </a:r>
            <a:r>
              <a:rPr lang="en-GB" b="1"/>
              <a:t>held out</a:t>
            </a:r>
            <a:r>
              <a:rPr lang="en-GB"/>
              <a:t> from all development, evaluated once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No tail – the 90</a:t>
            </a:r>
            <a:r>
              <a:rPr lang="en-GB" baseline="30000"/>
              <a:t>th</a:t>
            </a:r>
            <a:r>
              <a:rPr lang="en-GB"/>
              <a:t> percentile equals the median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endParaRPr lang="en-GB" b="1"/>
          </a:p>
          <a:p>
            <a:endParaRPr lang="en-GB" b="1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>
              <a:solidFill>
                <a:schemeClr val="accent6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A3E5787-018D-D815-3E74-6FC1D7183258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Rank, evaluate a handful and take the best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DA247-2F16-2F9B-59D0-C3E1496DA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1340A-2AA0-6C9A-CB4C-D42C52ED8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F748D-2A04-604E-333E-90FE9122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22</a:t>
            </a:fld>
            <a:endParaRPr lang="en-GB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5AA6E56-1BCD-AEB2-8A84-79FA1847D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899873"/>
              </p:ext>
            </p:extLst>
          </p:nvPr>
        </p:nvGraphicFramePr>
        <p:xfrm>
          <a:off x="1041400" y="1805033"/>
          <a:ext cx="7061199" cy="127119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353733">
                  <a:extLst>
                    <a:ext uri="{9D8B030D-6E8A-4147-A177-3AD203B41FA5}">
                      <a16:colId xmlns:a16="http://schemas.microsoft.com/office/drawing/2014/main" val="3208942746"/>
                    </a:ext>
                  </a:extLst>
                </a:gridCol>
                <a:gridCol w="2353733">
                  <a:extLst>
                    <a:ext uri="{9D8B030D-6E8A-4147-A177-3AD203B41FA5}">
                      <a16:colId xmlns:a16="http://schemas.microsoft.com/office/drawing/2014/main" val="2733176679"/>
                    </a:ext>
                  </a:extLst>
                </a:gridCol>
                <a:gridCol w="2353733">
                  <a:extLst>
                    <a:ext uri="{9D8B030D-6E8A-4147-A177-3AD203B41FA5}">
                      <a16:colId xmlns:a16="http://schemas.microsoft.com/office/drawing/2014/main" val="2864991230"/>
                    </a:ext>
                  </a:extLst>
                </a:gridCol>
              </a:tblGrid>
              <a:tr h="42373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Best-of-top-5 regret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</a:t>
                      </a:r>
                      <a:r>
                        <a:rPr lang="en-US" baseline="-25000"/>
                        <a:t>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random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158576"/>
                  </a:ext>
                </a:extLst>
              </a:tr>
              <a:tr h="42373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0.181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740652"/>
                  </a:ext>
                </a:extLst>
              </a:tr>
              <a:tr h="42373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90</a:t>
                      </a:r>
                      <a:r>
                        <a:rPr lang="en-US" baseline="30000"/>
                        <a:t>th</a:t>
                      </a:r>
                      <a:r>
                        <a:rPr lang="en-US"/>
                        <a:t> Percentile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0.621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82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09677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FDC1-D29D-3508-6778-0EE56C88B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AB28-645C-4009-D461-B2859E085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we can’t guarantee this rule is general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6EA14-CDEE-1206-D1D8-5AE67C241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91" y="1104596"/>
            <a:ext cx="4434643" cy="36936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S₀ depends </a:t>
            </a:r>
            <a:r>
              <a:rPr lang="en-GB" sz="1400" b="1"/>
              <a:t>only </a:t>
            </a:r>
            <a:r>
              <a:rPr lang="en-GB" sz="1400"/>
              <a:t>on which orbitals are anchored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It’s </a:t>
            </a:r>
            <a:r>
              <a:rPr lang="en-GB" sz="1400" b="1"/>
              <a:t>exactly invariant </a:t>
            </a:r>
            <a:r>
              <a:rPr lang="en-GB" sz="1400"/>
              <a:t>under the same-spin permutation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Same 120 values at every chain - but the best triple moves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A </a:t>
            </a:r>
            <a:r>
              <a:rPr lang="en-GB" sz="1400" i="1"/>
              <a:t>fixed </a:t>
            </a:r>
            <a:r>
              <a:rPr lang="en-GB" sz="1400"/>
              <a:t>ranking chasing a </a:t>
            </a:r>
            <a:r>
              <a:rPr lang="en-GB" sz="1400" i="1"/>
              <a:t>moving </a:t>
            </a:r>
            <a:r>
              <a:rPr lang="en-GB" sz="1400"/>
              <a:t>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7 pre-registered chain-aware alternatives: </a:t>
            </a:r>
            <a:r>
              <a:rPr lang="en-GB" sz="1400" b="1"/>
              <a:t>none improves 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Argmax fails at only 1 of 18 chains worse than random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The one failure traces to an exact tie in the score, broken arbitrarily - not to the score itself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/>
              <a:t>Targeting capture directly performed worse (wrong sign at 14-15 of 18 chains)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endParaRPr lang="en-GB" b="1"/>
          </a:p>
          <a:p>
            <a:endParaRPr lang="en-GB" b="1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>
              <a:solidFill>
                <a:schemeClr val="accent6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B178DFE-0798-8D45-C641-EA316B531F2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The score is invariant under the permutation, the optimum is not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AB039C-032E-BF47-586D-B0DCFADFB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37092-12FB-14CA-0791-3E9ADBF6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6E92F-B316-ED1D-DAB3-76B6D800A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23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3B6794-CEE1-8A88-4B9E-8CD7377C1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4847" y="880272"/>
            <a:ext cx="3048000" cy="53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26524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F1F91-65D4-25F1-7E78-E0A3069E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15ADF-DBA4-ED2B-CCCD-74E57FC97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this establishes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A74D4-3D85-9938-EDBA-77CF7B386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72" y="1582176"/>
            <a:ext cx="8649456" cy="36936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/>
              <a:t>Anchor selection is worth doing – shortlisting reaches 0.2% of optimal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/>
              <a:t>No opposite-spin only rule can be </a:t>
            </a:r>
            <a:r>
              <a:rPr lang="en-GB" sz="1800" b="1"/>
              <a:t>guaranteed</a:t>
            </a:r>
            <a:r>
              <a:rPr lang="en-GB" sz="1800"/>
              <a:t> general – proved, not observed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/>
              <a:t>Any successor must use same-spin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/>
              <a:t>Not a tuning problem - a structural 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/>
              <a:t>The problem is now precisely specified for whoever solves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endParaRPr lang="en-GB" b="1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>
              <a:solidFill>
                <a:schemeClr val="accent6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C11276C-F52E-38E3-6B76-E990E5526E9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A structural constraint on any future rule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3370B-F489-F538-3753-2CB279D9C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F87F9-B643-820F-7646-CF5129D1D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75E4E-5FB5-16F2-2BE2-F67B448FA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78001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89CB8-B558-7C61-AE2F-005A7C96D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247A7-8A52-782F-58E1-1A11C52DF8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Where this goes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D28946-509D-4AC3-0909-CEC7BE4D05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Scaling, limitations and the open problem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57A03-390B-55D0-652C-0C3CC902E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1B27-9C9A-AD4F-B470-509B5E6C368C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E6E6A-7803-7C89-5B7A-950F80563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15E42-9F85-AFFF-1B96-81E1E1C6F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18844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E3E3-4419-ECAA-F598-1D9E12B5D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B58D0-0227-68E4-DB7E-725F7BC4B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Circuit resource audit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C8F69-3B23-1982-FC33-47B7DD9FF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91" y="1104596"/>
            <a:ext cx="8649456" cy="36936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Every layout transpiled to CouplingMap.from_heavy_hex, 5 routing seeds each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>
                <a:solidFill>
                  <a:schemeClr val="accent6"/>
                </a:solidFill>
              </a:rPr>
              <a:t>Better anchors need fewer gates: </a:t>
            </a:r>
          </a:p>
          <a:p>
            <a:pPr marL="2171603" lvl="5" indent="-285750"/>
            <a:r>
              <a:rPr lang="en-GB"/>
              <a:t>ρ(2Q gates, error) = </a:t>
            </a:r>
            <a:r>
              <a:rPr lang="en-GB" b="1"/>
              <a:t>+0.608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>
              <a:solidFill>
                <a:schemeClr val="accent6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Three of four quoted improvements reduce two-qubit account while improving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Same-spin reordering is the dominant hardware cost:</a:t>
            </a:r>
          </a:p>
          <a:p>
            <a:pPr marL="2171603" lvl="5" indent="-285750"/>
            <a:r>
              <a:rPr lang="en-GB"/>
              <a:t>physical ≈ </a:t>
            </a:r>
            <a:r>
              <a:rPr lang="en-GB" b="1"/>
              <a:t>26,500</a:t>
            </a:r>
            <a:r>
              <a:rPr lang="en-GB"/>
              <a:t> 2Q gates and </a:t>
            </a:r>
            <a:r>
              <a:rPr lang="en-GB" b="1"/>
              <a:t>5,284</a:t>
            </a:r>
            <a:r>
              <a:rPr lang="en-GB"/>
              <a:t> SWAPs</a:t>
            </a:r>
          </a:p>
          <a:p>
            <a:pPr marL="2171603" lvl="5" indent="-285750"/>
            <a:r>
              <a:rPr lang="en-GB"/>
              <a:t>identity ≈ </a:t>
            </a:r>
            <a:r>
              <a:rPr lang="en-GB" b="1"/>
              <a:t>12,800</a:t>
            </a:r>
            <a:r>
              <a:rPr lang="en-GB"/>
              <a:t> 2Q gates and </a:t>
            </a:r>
            <a:r>
              <a:rPr lang="en-GB" b="1"/>
              <a:t>650</a:t>
            </a:r>
            <a:r>
              <a:rPr lang="en-GB"/>
              <a:t> SWAPs</a:t>
            </a:r>
          </a:p>
          <a:p>
            <a:pPr marL="285750" lvl="1" indent="-285750"/>
            <a:endParaRPr lang="en-GB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b="0"/>
              <a:t>A second, independent reason to prefer the anchor axis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>
              <a:solidFill>
                <a:schemeClr val="accent6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22839F1-504C-22C3-290C-76D7ADEEEE94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Does a better layout cost more gates?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A6EB7-578D-418E-F958-DEBDE1DA2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F2230-0FEA-46E4-CB4A-22E999701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5B9F1-0647-79D5-CDE3-158DF23E5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237530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EDC2B-5D3E-68FE-06EB-D30B3D9C2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9142D-B817-2A79-085C-D273020C0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Scaling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16349-740A-DA40-3B0A-61574E155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72" y="1973840"/>
            <a:ext cx="8649456" cy="36936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Anchor space: C(36,9) ≈ 9.4×10⁷ vs 36! ≈ 3.7×10⁴¹</a:t>
            </a:r>
          </a:p>
          <a:p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At N</a:t>
            </a:r>
            <a:r>
              <a:rPr lang="en-GB" baseline="-25000"/>
              <a:t>orb </a:t>
            </a:r>
            <a:r>
              <a:rPr lang="en-GB"/>
              <a:t>= 20, only 15,504 anchor choices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Combined with shortlisting: rank, evaluate five, take the best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On hardware, sampling is free – </a:t>
            </a:r>
            <a:r>
              <a:rPr lang="en-GB" b="1"/>
              <a:t>the entire cost is enumeration</a:t>
            </a:r>
          </a:p>
          <a:p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Fugaku’s value here is throughput, not latency – hundreds of independent short jobs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F096CF-E86F-F93A-6249-A21BF05F4AEE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Why the anchor axis is tractable where the permutation search is not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F2D61-15B1-1ACD-58D9-F75D43F0C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9C490-B29B-2ACB-D806-602F3A72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59CC2-7399-8ECB-1990-C082C3F1C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8938349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AB655-A563-E22A-2FAC-55B1170F6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FB6FD-A275-236F-25A3-C0AE71D7C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we are </a:t>
            </a:r>
            <a:r>
              <a:rPr lang="en-US" i="1"/>
              <a:t>not </a:t>
            </a:r>
            <a:r>
              <a:rPr lang="en-US"/>
              <a:t>claiming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8E98A-B386-A77F-A702-DA4D73058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91" y="1104596"/>
            <a:ext cx="8649456" cy="36936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Not a rule that finds the optimum at every chain – the opposite is proved</a:t>
            </a:r>
          </a:p>
          <a:p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Not a claim that orbital ordering fixes single-reference failure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Not ”fixed quantum resources” – layouts differ in gate count and depth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Anchor axis CV: 5.1% gates, 11.6% depth, same-spin axis: 19.0%,21.7%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Capture is an </a:t>
            </a:r>
            <a:r>
              <a:rPr lang="en-GB" b="1"/>
              <a:t>oracle diagnostic, </a:t>
            </a:r>
            <a:r>
              <a:rPr lang="en-GB"/>
              <a:t>not a production criterion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Cr</a:t>
            </a:r>
            <a:r>
              <a:rPr lang="en-GB" baseline="-25000"/>
              <a:t>2 </a:t>
            </a:r>
            <a:r>
              <a:rPr lang="en-GB"/>
              <a:t>is a transfer test of the layout phenomenon, not a chemistry result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endParaRPr lang="en-GB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55390BB-7726-D097-5F45-422DB1DEE6FF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US"/>
              <a:t>Explicitly stating the limits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41DB4-42CE-9788-EAAF-F781634C4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FEED1-FB53-AEF5-45A9-526470C9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CC4026-7619-0A63-2870-25E489D1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798443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FE1A9-057A-F69E-771C-FD6B69844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E7DFF-B5F1-B49A-9ACC-D520631BD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684F3-F796-73F2-F737-FF7AEAD68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91" y="1104596"/>
            <a:ext cx="8649456" cy="36936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Orbital layout changes SQD error by </a:t>
            </a:r>
            <a:r>
              <a:rPr lang="en-GB" b="1"/>
              <a:t>8x </a:t>
            </a:r>
            <a:r>
              <a:rPr lang="en-GB"/>
              <a:t>at fixed budget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Mechanism identified – </a:t>
            </a:r>
            <a:r>
              <a:rPr lang="en-GB" b="1"/>
              <a:t>subspace capture</a:t>
            </a:r>
            <a:r>
              <a:rPr lang="en-GB"/>
              <a:t>, 21 chains, 3 systems – </a:t>
            </a:r>
            <a:r>
              <a:rPr lang="en-GB" b="1">
                <a:solidFill>
                  <a:schemeClr val="accent6"/>
                </a:solidFill>
              </a:rPr>
              <a:t>zero failures.</a:t>
            </a: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Mask decomposes into </a:t>
            </a:r>
            <a:r>
              <a:rPr lang="en-GB" b="1"/>
              <a:t>two levers</a:t>
            </a:r>
            <a:r>
              <a:rPr lang="en-GB"/>
              <a:t> – the smaller one does most of the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Proof</a:t>
            </a:r>
            <a:r>
              <a:rPr lang="en-GB"/>
              <a:t> that no opposite-spin-only rule can be general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 deployable shortlist rule, reaching </a:t>
            </a:r>
            <a:r>
              <a:rPr lang="en-GB" b="1"/>
              <a:t>0.2% of optimal </a:t>
            </a:r>
            <a:r>
              <a:rPr lang="en-GB"/>
              <a:t>on held-out chains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 previously unexamined design variable, now characterised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F8703-7EF4-9639-5766-F9347786B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7A7996-7D82-6A5B-7126-A3ECE858B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0E9ED-DE25-C99B-653B-24E9E3D32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460344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78FD9-73F3-414A-94C8-2B58A1F85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814A5-7147-F544-23B7-2F6258662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A24E5-25E3-9668-49F7-C54D623FE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91" y="1104596"/>
            <a:ext cx="8649456" cy="369364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A chain-aware rule with a generality guarantee, beyond the three families tested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Explain why ansatz quality fails to transmit at some chains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Calidate the shortlist recipe on more systems and shot budgets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Fugaku numerical validation, then anchor enumeration at N</a:t>
            </a:r>
            <a:r>
              <a:rPr lang="en-GB" baseline="-25000"/>
              <a:t>orb</a:t>
            </a:r>
            <a:r>
              <a:rPr lang="en-GB"/>
              <a:t> &gt;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[2Fe-2S]-scale active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Would you be open to this becoming a paper with more research in the future?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B7309-71B9-2B61-CC9B-4AF2A9731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08768-7237-9F4D-8614-7E5D82958556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7F4CA-886B-B774-05C0-E3A66AD9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Research Presentation - RIKEN R-CCS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F6A64-C5EC-3D7F-4810-DF5DFACC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288671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92A0-DAFD-2CE4-F5BD-315A0135C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125" y="3006061"/>
            <a:ext cx="6858000" cy="691050"/>
          </a:xfrm>
        </p:spPr>
        <p:txBody>
          <a:bodyPr/>
          <a:lstStyle/>
          <a:p>
            <a:r>
              <a:rPr lang="en-US"/>
              <a:t>Thank You!</a:t>
            </a:r>
            <a:br>
              <a:rPr lang="en-US"/>
            </a:br>
            <a:br>
              <a:rPr lang="en-US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972F5-B010-8428-D0AA-F619C83E71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8125" y="5878513"/>
            <a:ext cx="4214813" cy="741362"/>
          </a:xfrm>
        </p:spPr>
        <p:txBody>
          <a:bodyPr/>
          <a:lstStyle/>
          <a:p>
            <a:r>
              <a:rPr lang="en-US"/>
              <a:t>Research Presentation – RIKEN R-CCS</a:t>
            </a:r>
            <a:endParaRPr lang="en-US" dirty="0"/>
          </a:p>
          <a:p>
            <a:r>
              <a:rPr lang="en-US"/>
              <a:t>03/09/2026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DB6F67-9EEF-7B7F-A85D-82BB4B3E9922}"/>
              </a:ext>
            </a:extLst>
          </p:cNvPr>
          <p:cNvSpPr txBox="1">
            <a:spLocks/>
          </p:cNvSpPr>
          <p:nvPr/>
        </p:nvSpPr>
        <p:spPr>
          <a:xfrm>
            <a:off x="238125" y="4442287"/>
            <a:ext cx="6858000" cy="6910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685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0"/>
              <a:t>Repo: </a:t>
            </a:r>
            <a:r>
              <a:rPr lang="en-US" sz="1800" b="0" u="sng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github.com/solovevmax/sqd-orbital-ordering</a:t>
            </a:r>
            <a:r>
              <a:rPr lang="en-US" sz="1800" b="0" u="sng"/>
              <a:t> </a:t>
            </a:r>
          </a:p>
          <a:p>
            <a:endParaRPr lang="en-US" sz="1800" b="0"/>
          </a:p>
          <a:p>
            <a:r>
              <a:rPr lang="en-US" sz="1800" b="0"/>
              <a:t>All data, seeds and hashes public</a:t>
            </a:r>
            <a:br>
              <a:rPr lang="en-US"/>
            </a:br>
            <a:br>
              <a:rPr lang="en-US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45162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Arial_ICL_PowerPoint 4_3 template.potx" id="{24DAD018-1280-4430-B719-F9E464F2806F}" vid="{1BB8BE06-CE48-4887-8B8B-329DE1A270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2727</TotalTime>
  <Words>2055</Words>
  <Application>Microsoft Macintosh PowerPoint</Application>
  <PresentationFormat>On-screen Show (4:3)</PresentationFormat>
  <Paragraphs>449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Calibri</vt:lpstr>
      <vt:lpstr>Cambria Math</vt:lpstr>
      <vt:lpstr>Arial</vt:lpstr>
      <vt:lpstr>ICL PPT Theme</vt:lpstr>
      <vt:lpstr>Orbital Ordering in Heavy-Hex LUCJ Sampling for SQD</vt:lpstr>
      <vt:lpstr>Introduction</vt:lpstr>
      <vt:lpstr>Current issues with the LUCJ ansatz</vt:lpstr>
      <vt:lpstr>SQD needs a different optimisation target</vt:lpstr>
      <vt:lpstr>The proposed solution</vt:lpstr>
      <vt:lpstr>Experimental pipeline and validation</vt:lpstr>
      <vt:lpstr>Does layout matter?</vt:lpstr>
      <vt:lpstr>Orbital layout changes the answer by 8x</vt:lpstr>
      <vt:lpstr>Two surprises in the baseline</vt:lpstr>
      <vt:lpstr>Why does it matter?</vt:lpstr>
      <vt:lpstr>The mechanism: Subspace Capture</vt:lpstr>
      <vt:lpstr>And it transfers</vt:lpstr>
      <vt:lpstr>Can we predict a good layout?</vt:lpstr>
      <vt:lpstr>Every cheap predictor fails</vt:lpstr>
      <vt:lpstr>Why did these all fail?</vt:lpstr>
      <vt:lpstr>The Key Finding</vt:lpstr>
      <vt:lpstr>Reversing the layout</vt:lpstr>
      <vt:lpstr>The mask has two levers</vt:lpstr>
      <vt:lpstr>The small lever does most of the work</vt:lpstr>
      <vt:lpstr>Can we exploit it?</vt:lpstr>
      <vt:lpstr>A cheap rule</vt:lpstr>
      <vt:lpstr>The deployable objective is a shortlist</vt:lpstr>
      <vt:lpstr>Why we can’t guarantee this rule is general</vt:lpstr>
      <vt:lpstr>What this establishes</vt:lpstr>
      <vt:lpstr>Where this goes</vt:lpstr>
      <vt:lpstr>Circuit resource audit</vt:lpstr>
      <vt:lpstr>Scaling</vt:lpstr>
      <vt:lpstr>What we are not claiming</vt:lpstr>
      <vt:lpstr>Summary</vt:lpstr>
      <vt:lpstr>Future Work</vt:lpstr>
      <vt:lpstr>Thank You!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Operandi Limited</dc:creator>
  <cp:lastModifiedBy>Solovev, Maxim</cp:lastModifiedBy>
  <cp:revision>43</cp:revision>
  <dcterms:created xsi:type="dcterms:W3CDTF">2024-02-08T10:36:48Z</dcterms:created>
  <dcterms:modified xsi:type="dcterms:W3CDTF">2026-08-31T07:44:23Z</dcterms:modified>
</cp:coreProperties>
</file>